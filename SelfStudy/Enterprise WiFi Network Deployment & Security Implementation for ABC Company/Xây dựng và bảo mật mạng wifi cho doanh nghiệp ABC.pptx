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sldSz cx="18288000" cy="10287000"/>
  <p:notesSz cx="6858000" cy="9144000"/>
  <p:embeddedFontLst>
    <p:embeddedFont>
      <p:font typeface="Arimo" panose="020B0604020202020204" charset="0"/>
      <p:regular r:id="rId36"/>
    </p:embeddedFont>
    <p:embeddedFont>
      <p:font typeface="Arimo Bold" panose="020B0604020202020204" charset="0"/>
      <p:regular r:id="rId37"/>
    </p:embeddedFont>
    <p:embeddedFont>
      <p:font typeface="Poppins Bold" panose="020B0604020202020204" charset="0"/>
      <p:regular r:id="rId38"/>
    </p:embeddedFont>
    <p:embeddedFont>
      <p:font typeface="Poppins Light" panose="00000400000000000000" pitchFamily="2" charset="0"/>
      <p:regular r:id="rId39"/>
    </p:embeddedFont>
    <p:embeddedFont>
      <p:font typeface="Poppins Medium" panose="00000600000000000000" pitchFamily="2" charset="0"/>
      <p:regular r:id="rId40"/>
    </p:embeddedFont>
    <p:embeddedFont>
      <p:font typeface="Poppins Medium Bold" panose="020B0604020202020204" charset="0"/>
      <p:regular r:id="rId4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0" d="100"/>
          <a:sy n="50" d="100"/>
        </p:scale>
        <p:origin x="874"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4.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2.fntdata"/><Relationship Id="rId40" Type="http://schemas.openxmlformats.org/officeDocument/2006/relationships/font" Target="fonts/font5.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3.fntdata"/><Relationship Id="rId20" Type="http://schemas.openxmlformats.org/officeDocument/2006/relationships/slide" Target="slides/slide19.xml"/><Relationship Id="rId41" Type="http://schemas.openxmlformats.org/officeDocument/2006/relationships/font" Target="fonts/font6.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5/20/2025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5/20/2025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flipH="1" flipV="1">
            <a:off x="14210118" y="5321632"/>
            <a:ext cx="7641615" cy="5845836"/>
          </a:xfrm>
          <a:custGeom>
            <a:avLst/>
            <a:gdLst/>
            <a:ahLst/>
            <a:cxnLst/>
            <a:rect l="l" t="t" r="r" b="b"/>
            <a:pathLst>
              <a:path w="7641615" h="5845836">
                <a:moveTo>
                  <a:pt x="7641615" y="5845836"/>
                </a:moveTo>
                <a:lnTo>
                  <a:pt x="0" y="5845836"/>
                </a:lnTo>
                <a:lnTo>
                  <a:pt x="0" y="0"/>
                </a:lnTo>
                <a:lnTo>
                  <a:pt x="7641615" y="0"/>
                </a:lnTo>
                <a:lnTo>
                  <a:pt x="7641615" y="5845836"/>
                </a:lnTo>
                <a:close/>
              </a:path>
            </a:pathLst>
          </a:custGeom>
          <a:blipFill>
            <a:blip r:embed="rId2"/>
            <a:stretch>
              <a:fillRect/>
            </a:stretch>
          </a:blipFill>
        </p:spPr>
        <p:txBody>
          <a:bodyPr/>
          <a:lstStyle/>
          <a:p>
            <a:endParaRPr lang="en-US"/>
          </a:p>
        </p:txBody>
      </p:sp>
      <p:grpSp>
        <p:nvGrpSpPr>
          <p:cNvPr id="3" name="Group 3"/>
          <p:cNvGrpSpPr/>
          <p:nvPr/>
        </p:nvGrpSpPr>
        <p:grpSpPr>
          <a:xfrm>
            <a:off x="508451" y="3093081"/>
            <a:ext cx="22410973" cy="6165219"/>
            <a:chOff x="0" y="0"/>
            <a:chExt cx="29881297" cy="8220292"/>
          </a:xfrm>
        </p:grpSpPr>
        <p:sp>
          <p:nvSpPr>
            <p:cNvPr id="4" name="TextBox 4"/>
            <p:cNvSpPr txBox="1"/>
            <p:nvPr/>
          </p:nvSpPr>
          <p:spPr>
            <a:xfrm>
              <a:off x="0" y="-28547"/>
              <a:ext cx="9723556" cy="1704975"/>
            </a:xfrm>
            <a:prstGeom prst="rect">
              <a:avLst/>
            </a:prstGeom>
          </p:spPr>
          <p:txBody>
            <a:bodyPr lIns="0" tIns="0" rIns="0" bIns="0" rtlCol="0" anchor="t">
              <a:spAutoFit/>
            </a:bodyPr>
            <a:lstStyle/>
            <a:p>
              <a:pPr algn="ctr">
                <a:lnSpc>
                  <a:spcPts val="5004"/>
                </a:lnSpc>
              </a:pPr>
              <a:r>
                <a:rPr lang="en-US" sz="4170" b="1">
                  <a:solidFill>
                    <a:srgbClr val="10B5BF"/>
                  </a:solidFill>
                  <a:latin typeface="Arimo Bold"/>
                  <a:ea typeface="Arimo Bold"/>
                  <a:cs typeface="Arimo Bold"/>
                  <a:sym typeface="Arimo Bold"/>
                </a:rPr>
                <a:t>AN TOÀN MẠNG </a:t>
              </a:r>
            </a:p>
            <a:p>
              <a:pPr algn="ctr">
                <a:lnSpc>
                  <a:spcPts val="5004"/>
                </a:lnSpc>
              </a:pPr>
              <a:r>
                <a:rPr lang="en-US" sz="4170" b="1">
                  <a:solidFill>
                    <a:srgbClr val="10B5BF"/>
                  </a:solidFill>
                  <a:latin typeface="Arimo Bold"/>
                  <a:ea typeface="Arimo Bold"/>
                  <a:cs typeface="Arimo Bold"/>
                  <a:sym typeface="Arimo Bold"/>
                </a:rPr>
                <a:t>KHÔNG DÂY VÀ DI ĐỘNG</a:t>
              </a:r>
            </a:p>
          </p:txBody>
        </p:sp>
        <p:sp>
          <p:nvSpPr>
            <p:cNvPr id="5" name="TextBox 5"/>
            <p:cNvSpPr txBox="1"/>
            <p:nvPr/>
          </p:nvSpPr>
          <p:spPr>
            <a:xfrm>
              <a:off x="0" y="2921251"/>
              <a:ext cx="29881297" cy="2749027"/>
            </a:xfrm>
            <a:prstGeom prst="rect">
              <a:avLst/>
            </a:prstGeom>
          </p:spPr>
          <p:txBody>
            <a:bodyPr lIns="0" tIns="0" rIns="0" bIns="0" rtlCol="0" anchor="t">
              <a:spAutoFit/>
            </a:bodyPr>
            <a:lstStyle/>
            <a:p>
              <a:pPr algn="l">
                <a:lnSpc>
                  <a:spcPts val="15641"/>
                </a:lnSpc>
              </a:pPr>
              <a:endParaRPr/>
            </a:p>
          </p:txBody>
        </p:sp>
        <p:sp>
          <p:nvSpPr>
            <p:cNvPr id="6" name="TextBox 6"/>
            <p:cNvSpPr txBox="1"/>
            <p:nvPr/>
          </p:nvSpPr>
          <p:spPr>
            <a:xfrm>
              <a:off x="0" y="6217286"/>
              <a:ext cx="29881297" cy="1993222"/>
            </a:xfrm>
            <a:prstGeom prst="rect">
              <a:avLst/>
            </a:prstGeom>
          </p:spPr>
          <p:txBody>
            <a:bodyPr lIns="0" tIns="0" rIns="0" bIns="0" rtlCol="0" anchor="t">
              <a:spAutoFit/>
            </a:bodyPr>
            <a:lstStyle/>
            <a:p>
              <a:pPr algn="l">
                <a:lnSpc>
                  <a:spcPts val="5645"/>
                </a:lnSpc>
              </a:pPr>
              <a:r>
                <a:rPr lang="en-US" sz="4032" spc="80">
                  <a:solidFill>
                    <a:srgbClr val="FFFFFF"/>
                  </a:solidFill>
                  <a:latin typeface="Arimo"/>
                  <a:ea typeface="Arimo"/>
                  <a:cs typeface="Arimo"/>
                  <a:sym typeface="Arimo"/>
                </a:rPr>
                <a:t>NGƯỜI HƯỚNG DẪN : TS. Bùi Quy Anh</a:t>
              </a:r>
            </a:p>
            <a:p>
              <a:pPr algn="l">
                <a:lnSpc>
                  <a:spcPts val="6485"/>
                </a:lnSpc>
              </a:pPr>
              <a:endParaRPr lang="en-US" sz="4032" spc="80">
                <a:solidFill>
                  <a:srgbClr val="FFFFFF"/>
                </a:solidFill>
                <a:latin typeface="Arimo"/>
                <a:ea typeface="Arimo"/>
                <a:cs typeface="Arimo"/>
                <a:sym typeface="Arimo"/>
              </a:endParaRPr>
            </a:p>
          </p:txBody>
        </p:sp>
      </p:grpSp>
      <p:sp>
        <p:nvSpPr>
          <p:cNvPr id="7" name="Freeform 7"/>
          <p:cNvSpPr/>
          <p:nvPr/>
        </p:nvSpPr>
        <p:spPr>
          <a:xfrm>
            <a:off x="11335407" y="116217"/>
            <a:ext cx="3586584" cy="2976864"/>
          </a:xfrm>
          <a:custGeom>
            <a:avLst/>
            <a:gdLst/>
            <a:ahLst/>
            <a:cxnLst/>
            <a:rect l="l" t="t" r="r" b="b"/>
            <a:pathLst>
              <a:path w="3586584" h="2976864">
                <a:moveTo>
                  <a:pt x="0" y="0"/>
                </a:moveTo>
                <a:lnTo>
                  <a:pt x="3586584" y="0"/>
                </a:lnTo>
                <a:lnTo>
                  <a:pt x="3586584" y="2976864"/>
                </a:lnTo>
                <a:lnTo>
                  <a:pt x="0" y="2976864"/>
                </a:lnTo>
                <a:lnTo>
                  <a:pt x="0" y="0"/>
                </a:lnTo>
                <a:close/>
              </a:path>
            </a:pathLst>
          </a:custGeom>
          <a:blipFill>
            <a:blip r:embed="rId3"/>
            <a:stretch>
              <a:fillRect/>
            </a:stretch>
          </a:blipFill>
        </p:spPr>
        <p:txBody>
          <a:bodyPr/>
          <a:lstStyle/>
          <a:p>
            <a:endParaRPr lang="en-US"/>
          </a:p>
        </p:txBody>
      </p:sp>
      <p:sp>
        <p:nvSpPr>
          <p:cNvPr id="8" name="TextBox 8"/>
          <p:cNvSpPr txBox="1"/>
          <p:nvPr/>
        </p:nvSpPr>
        <p:spPr>
          <a:xfrm>
            <a:off x="1331292" y="5426655"/>
            <a:ext cx="12256861" cy="1190625"/>
          </a:xfrm>
          <a:prstGeom prst="rect">
            <a:avLst/>
          </a:prstGeom>
        </p:spPr>
        <p:txBody>
          <a:bodyPr lIns="0" tIns="0" rIns="0" bIns="0" rtlCol="0" anchor="t">
            <a:spAutoFit/>
          </a:bodyPr>
          <a:lstStyle/>
          <a:p>
            <a:pPr algn="ctr">
              <a:lnSpc>
                <a:spcPts val="4609"/>
              </a:lnSpc>
              <a:spcBef>
                <a:spcPct val="0"/>
              </a:spcBef>
            </a:pPr>
            <a:r>
              <a:rPr lang="en-US" sz="3840">
                <a:solidFill>
                  <a:srgbClr val="FFFFFF"/>
                </a:solidFill>
                <a:latin typeface="Arimo"/>
                <a:ea typeface="Arimo"/>
                <a:cs typeface="Arimo"/>
                <a:sym typeface="Arimo"/>
              </a:rPr>
              <a:t>NGHIÊN CỨU VÀ XÂY DỰNG HỆ THỐNG BẢO MẬT MẠNG KHÔNG DÂY CHO DOANH NGHIỆP</a:t>
            </a:r>
          </a:p>
        </p:txBody>
      </p:sp>
      <p:sp>
        <p:nvSpPr>
          <p:cNvPr id="9" name="Freeform 9"/>
          <p:cNvSpPr/>
          <p:nvPr/>
        </p:nvSpPr>
        <p:spPr>
          <a:xfrm>
            <a:off x="15234733" y="0"/>
            <a:ext cx="3044931" cy="1753992"/>
          </a:xfrm>
          <a:custGeom>
            <a:avLst/>
            <a:gdLst/>
            <a:ahLst/>
            <a:cxnLst/>
            <a:rect l="l" t="t" r="r" b="b"/>
            <a:pathLst>
              <a:path w="3044931" h="1753992">
                <a:moveTo>
                  <a:pt x="0" y="0"/>
                </a:moveTo>
                <a:lnTo>
                  <a:pt x="3044931" y="0"/>
                </a:lnTo>
                <a:lnTo>
                  <a:pt x="3044931" y="1753992"/>
                </a:lnTo>
                <a:lnTo>
                  <a:pt x="0" y="1753992"/>
                </a:lnTo>
                <a:lnTo>
                  <a:pt x="0" y="0"/>
                </a:lnTo>
                <a:close/>
              </a:path>
            </a:pathLst>
          </a:custGeom>
          <a:blipFill>
            <a:blip r:embed="rId4"/>
            <a:stretch>
              <a:fillRect/>
            </a:stretch>
          </a:blipFill>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16308658" y="2268660"/>
            <a:ext cx="1901285" cy="6700564"/>
          </a:xfrm>
          <a:custGeom>
            <a:avLst/>
            <a:gdLst/>
            <a:ahLst/>
            <a:cxnLst/>
            <a:rect l="l" t="t" r="r" b="b"/>
            <a:pathLst>
              <a:path w="1901285" h="6700564">
                <a:moveTo>
                  <a:pt x="0" y="0"/>
                </a:moveTo>
                <a:lnTo>
                  <a:pt x="1901284" y="0"/>
                </a:lnTo>
                <a:lnTo>
                  <a:pt x="1901284" y="6700564"/>
                </a:lnTo>
                <a:lnTo>
                  <a:pt x="0" y="6700564"/>
                </a:lnTo>
                <a:lnTo>
                  <a:pt x="0" y="0"/>
                </a:lnTo>
                <a:close/>
              </a:path>
            </a:pathLst>
          </a:custGeom>
          <a:blipFill>
            <a:blip r:embed="rId2"/>
            <a:stretch>
              <a:fillRect/>
            </a:stretch>
          </a:blipFill>
        </p:spPr>
        <p:txBody>
          <a:bodyPr/>
          <a:lstStyle/>
          <a:p>
            <a:endParaRPr lang="en-US"/>
          </a:p>
        </p:txBody>
      </p:sp>
      <p:graphicFrame>
        <p:nvGraphicFramePr>
          <p:cNvPr id="3" name="Table 3"/>
          <p:cNvGraphicFramePr>
            <a:graphicFrameLocks noGrp="1"/>
          </p:cNvGraphicFramePr>
          <p:nvPr/>
        </p:nvGraphicFramePr>
        <p:xfrm>
          <a:off x="6582915" y="5903595"/>
          <a:ext cx="5887373" cy="3918243"/>
        </p:xfrm>
        <a:graphic>
          <a:graphicData uri="http://schemas.openxmlformats.org/drawingml/2006/table">
            <a:tbl>
              <a:tblPr/>
              <a:tblGrid>
                <a:gridCol w="4732221">
                  <a:extLst>
                    <a:ext uri="{9D8B030D-6E8A-4147-A177-3AD203B41FA5}">
                      <a16:colId xmlns:a16="http://schemas.microsoft.com/office/drawing/2014/main" val="20000"/>
                    </a:ext>
                  </a:extLst>
                </a:gridCol>
              </a:tblGrid>
              <a:tr h="1306081">
                <a:tc>
                  <a:txBody>
                    <a:bodyPr/>
                    <a:lstStyle/>
                    <a:p>
                      <a:pPr algn="l">
                        <a:lnSpc>
                          <a:spcPts val="3499"/>
                        </a:lnSpc>
                        <a:defRPr/>
                      </a:pPr>
                      <a:r>
                        <a:rPr lang="en-US" sz="2499">
                          <a:solidFill>
                            <a:srgbClr val="FFFFFF"/>
                          </a:solidFill>
                          <a:latin typeface="Arimo"/>
                          <a:ea typeface="Arimo"/>
                          <a:cs typeface="Arimo"/>
                          <a:sym typeface="Arimo"/>
                        </a:rPr>
                        <a:t>Thành viên nhóm:</a:t>
                      </a:r>
                      <a:endParaRPr lang="en-US" sz="1100"/>
                    </a:p>
                  </a:txBody>
                  <a:tcPr marL="0" marR="0" marT="0" marB="0" anchor="ctr">
                    <a:lnL w="0" cap="flat" cmpd="sng" algn="ctr">
                      <a:solidFill>
                        <a:srgbClr val="10B5BF"/>
                      </a:solidFill>
                      <a:prstDash val="solid"/>
                      <a:round/>
                      <a:headEnd type="none" w="med" len="med"/>
                      <a:tailEnd type="none" w="med" len="med"/>
                    </a:lnL>
                    <a:lnR w="0" cap="flat" cmpd="sng" algn="ctr">
                      <a:solidFill>
                        <a:srgbClr val="10B5BF"/>
                      </a:solidFill>
                      <a:prstDash val="solid"/>
                      <a:round/>
                      <a:headEnd type="none" w="med" len="med"/>
                      <a:tailEnd type="none" w="med" len="med"/>
                    </a:lnR>
                    <a:lnT w="19050" cap="flat" cmpd="sng" algn="ctr">
                      <a:solidFill>
                        <a:srgbClr val="10B5BF"/>
                      </a:solidFill>
                      <a:prstDash val="solid"/>
                      <a:round/>
                      <a:headEnd type="none" w="med" len="med"/>
                      <a:tailEnd type="none" w="med" len="med"/>
                    </a:lnT>
                    <a:lnB w="19050" cap="flat" cmpd="sng" algn="ctr">
                      <a:solidFill>
                        <a:srgbClr val="10B5BF"/>
                      </a:solidFill>
                      <a:prstDash val="solid"/>
                      <a:round/>
                      <a:headEnd type="none" w="med" len="med"/>
                      <a:tailEnd type="none" w="med" len="med"/>
                    </a:lnB>
                  </a:tcPr>
                </a:tc>
                <a:extLst>
                  <a:ext uri="{0D108BD9-81ED-4DB2-BD59-A6C34878D82A}">
                    <a16:rowId xmlns:a16="http://schemas.microsoft.com/office/drawing/2014/main" val="10000"/>
                  </a:ext>
                </a:extLst>
              </a:tr>
              <a:tr h="1306081">
                <a:tc>
                  <a:txBody>
                    <a:bodyPr/>
                    <a:lstStyle/>
                    <a:p>
                      <a:pPr algn="ctr">
                        <a:lnSpc>
                          <a:spcPts val="4399"/>
                        </a:lnSpc>
                        <a:defRPr/>
                      </a:pPr>
                      <a:r>
                        <a:rPr lang="en-US" sz="2499">
                          <a:solidFill>
                            <a:srgbClr val="FFFFFF"/>
                          </a:solidFill>
                          <a:latin typeface="Arimo"/>
                          <a:ea typeface="Arimo"/>
                          <a:cs typeface="Arimo"/>
                          <a:sym typeface="Arimo"/>
                        </a:rPr>
                        <a:t>Lê Gia Thạnh - 52000858</a:t>
                      </a:r>
                      <a:endParaRPr lang="en-US" sz="1100"/>
                    </a:p>
                  </a:txBody>
                  <a:tcPr marL="0" marR="0" marT="0" marB="0" anchor="ctr">
                    <a:lnL w="0" cap="flat" cmpd="sng" algn="ctr">
                      <a:solidFill>
                        <a:srgbClr val="10B5BF"/>
                      </a:solidFill>
                      <a:prstDash val="solid"/>
                      <a:round/>
                      <a:headEnd type="none" w="med" len="med"/>
                      <a:tailEnd type="none" w="med" len="med"/>
                    </a:lnL>
                    <a:lnR w="0" cap="flat" cmpd="sng" algn="ctr">
                      <a:solidFill>
                        <a:srgbClr val="10B5BF"/>
                      </a:solidFill>
                      <a:prstDash val="solid"/>
                      <a:round/>
                      <a:headEnd type="none" w="med" len="med"/>
                      <a:tailEnd type="none" w="med" len="med"/>
                    </a:lnR>
                    <a:lnT w="19050" cap="flat" cmpd="sng" algn="ctr">
                      <a:solidFill>
                        <a:srgbClr val="10B5BF"/>
                      </a:solidFill>
                      <a:prstDash val="solid"/>
                      <a:round/>
                      <a:headEnd type="none" w="med" len="med"/>
                      <a:tailEnd type="none" w="med" len="med"/>
                    </a:lnT>
                    <a:lnB w="19050" cap="flat" cmpd="sng" algn="ctr">
                      <a:solidFill>
                        <a:srgbClr val="10B5BF"/>
                      </a:solidFill>
                      <a:prstDash val="solid"/>
                      <a:round/>
                      <a:headEnd type="none" w="med" len="med"/>
                      <a:tailEnd type="none" w="med" len="med"/>
                    </a:lnB>
                  </a:tcPr>
                </a:tc>
                <a:extLst>
                  <a:ext uri="{0D108BD9-81ED-4DB2-BD59-A6C34878D82A}">
                    <a16:rowId xmlns:a16="http://schemas.microsoft.com/office/drawing/2014/main" val="10001"/>
                  </a:ext>
                </a:extLst>
              </a:tr>
              <a:tr h="1306081">
                <a:tc>
                  <a:txBody>
                    <a:bodyPr/>
                    <a:lstStyle/>
                    <a:p>
                      <a:pPr algn="ctr">
                        <a:lnSpc>
                          <a:spcPts val="3499"/>
                        </a:lnSpc>
                        <a:defRPr/>
                      </a:pPr>
                      <a:r>
                        <a:rPr lang="en-US" sz="2499">
                          <a:solidFill>
                            <a:srgbClr val="FFFFFF"/>
                          </a:solidFill>
                          <a:latin typeface="Arimo"/>
                          <a:ea typeface="Arimo"/>
                          <a:cs typeface="Arimo"/>
                          <a:sym typeface="Arimo"/>
                        </a:rPr>
                        <a:t>Nguyễn Công Toàn - 52200271</a:t>
                      </a:r>
                      <a:endParaRPr lang="en-US" sz="1100"/>
                    </a:p>
                  </a:txBody>
                  <a:tcPr marL="0" marR="0" marT="0" marB="0" anchor="ctr">
                    <a:lnL w="0" cap="flat" cmpd="sng" algn="ctr">
                      <a:solidFill>
                        <a:srgbClr val="10B5BF"/>
                      </a:solidFill>
                      <a:prstDash val="solid"/>
                      <a:round/>
                      <a:headEnd type="none" w="med" len="med"/>
                      <a:tailEnd type="none" w="med" len="med"/>
                    </a:lnL>
                    <a:lnR w="0" cap="flat" cmpd="sng" algn="ctr">
                      <a:solidFill>
                        <a:srgbClr val="10B5BF"/>
                      </a:solidFill>
                      <a:prstDash val="solid"/>
                      <a:round/>
                      <a:headEnd type="none" w="med" len="med"/>
                      <a:tailEnd type="none" w="med" len="med"/>
                    </a:lnR>
                    <a:lnT w="19050" cap="flat" cmpd="sng" algn="ctr">
                      <a:solidFill>
                        <a:srgbClr val="10B5BF"/>
                      </a:solidFill>
                      <a:prstDash val="solid"/>
                      <a:round/>
                      <a:headEnd type="none" w="med" len="med"/>
                      <a:tailEnd type="none" w="med" len="med"/>
                    </a:lnT>
                    <a:lnB w="19050" cap="flat" cmpd="sng" algn="ctr">
                      <a:solidFill>
                        <a:srgbClr val="10B5BF"/>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4" name="Freeform 4"/>
          <p:cNvSpPr/>
          <p:nvPr/>
        </p:nvSpPr>
        <p:spPr>
          <a:xfrm>
            <a:off x="5353866" y="348807"/>
            <a:ext cx="8345470" cy="5554787"/>
          </a:xfrm>
          <a:custGeom>
            <a:avLst/>
            <a:gdLst/>
            <a:ahLst/>
            <a:cxnLst/>
            <a:rect l="l" t="t" r="r" b="b"/>
            <a:pathLst>
              <a:path w="8345470" h="5554787">
                <a:moveTo>
                  <a:pt x="0" y="0"/>
                </a:moveTo>
                <a:lnTo>
                  <a:pt x="8345470" y="0"/>
                </a:lnTo>
                <a:lnTo>
                  <a:pt x="8345470" y="5554788"/>
                </a:lnTo>
                <a:lnTo>
                  <a:pt x="0" y="5554788"/>
                </a:lnTo>
                <a:lnTo>
                  <a:pt x="0" y="0"/>
                </a:lnTo>
                <a:close/>
              </a:path>
            </a:pathLst>
          </a:custGeom>
          <a:blipFill>
            <a:blip r:embed="rId3"/>
            <a:stretch>
              <a:fillRect/>
            </a:stretch>
          </a:blipFill>
        </p:spPr>
        <p:txBody>
          <a:bodyPr/>
          <a:lstStyle/>
          <a:p>
            <a:endParaRPr lang="en-US"/>
          </a:p>
        </p:txBody>
      </p:sp>
      <p:sp>
        <p:nvSpPr>
          <p:cNvPr id="5" name="Freeform 5"/>
          <p:cNvSpPr/>
          <p:nvPr/>
        </p:nvSpPr>
        <p:spPr>
          <a:xfrm>
            <a:off x="15234733" y="0"/>
            <a:ext cx="3044931" cy="1753992"/>
          </a:xfrm>
          <a:custGeom>
            <a:avLst/>
            <a:gdLst/>
            <a:ahLst/>
            <a:cxnLst/>
            <a:rect l="l" t="t" r="r" b="b"/>
            <a:pathLst>
              <a:path w="3044931" h="1753992">
                <a:moveTo>
                  <a:pt x="0" y="0"/>
                </a:moveTo>
                <a:lnTo>
                  <a:pt x="3044931" y="0"/>
                </a:lnTo>
                <a:lnTo>
                  <a:pt x="3044931" y="1753992"/>
                </a:lnTo>
                <a:lnTo>
                  <a:pt x="0" y="1753992"/>
                </a:lnTo>
                <a:lnTo>
                  <a:pt x="0" y="0"/>
                </a:lnTo>
                <a:close/>
              </a:path>
            </a:pathLst>
          </a:custGeom>
          <a:blipFill>
            <a:blip r:embed="rId4"/>
            <a:stretch>
              <a:fillRect/>
            </a:stretch>
          </a:blipFill>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14997304" y="6903125"/>
            <a:ext cx="3282359" cy="3383875"/>
          </a:xfrm>
          <a:custGeom>
            <a:avLst/>
            <a:gdLst/>
            <a:ahLst/>
            <a:cxnLst/>
            <a:rect l="l" t="t" r="r" b="b"/>
            <a:pathLst>
              <a:path w="3282359" h="3383875">
                <a:moveTo>
                  <a:pt x="0" y="0"/>
                </a:moveTo>
                <a:lnTo>
                  <a:pt x="3282360" y="0"/>
                </a:lnTo>
                <a:lnTo>
                  <a:pt x="3282360" y="3383875"/>
                </a:lnTo>
                <a:lnTo>
                  <a:pt x="0" y="3383875"/>
                </a:lnTo>
                <a:lnTo>
                  <a:pt x="0" y="0"/>
                </a:lnTo>
                <a:close/>
              </a:path>
            </a:pathLst>
          </a:custGeom>
          <a:blipFill>
            <a:blip r:embed="rId2"/>
            <a:stretch>
              <a:fillRect/>
            </a:stretch>
          </a:blipFill>
        </p:spPr>
        <p:txBody>
          <a:bodyPr/>
          <a:lstStyle/>
          <a:p>
            <a:endParaRPr lang="en-US"/>
          </a:p>
        </p:txBody>
      </p:sp>
      <p:sp>
        <p:nvSpPr>
          <p:cNvPr id="3" name="Freeform 3"/>
          <p:cNvSpPr/>
          <p:nvPr/>
        </p:nvSpPr>
        <p:spPr>
          <a:xfrm>
            <a:off x="530302" y="2280910"/>
            <a:ext cx="7118423" cy="5725179"/>
          </a:xfrm>
          <a:custGeom>
            <a:avLst/>
            <a:gdLst/>
            <a:ahLst/>
            <a:cxnLst/>
            <a:rect l="l" t="t" r="r" b="b"/>
            <a:pathLst>
              <a:path w="7118423" h="5725179">
                <a:moveTo>
                  <a:pt x="0" y="0"/>
                </a:moveTo>
                <a:lnTo>
                  <a:pt x="7118423" y="0"/>
                </a:lnTo>
                <a:lnTo>
                  <a:pt x="7118423" y="5725180"/>
                </a:lnTo>
                <a:lnTo>
                  <a:pt x="0" y="5725180"/>
                </a:lnTo>
                <a:lnTo>
                  <a:pt x="0" y="0"/>
                </a:lnTo>
                <a:close/>
              </a:path>
            </a:pathLst>
          </a:custGeom>
          <a:blipFill>
            <a:blip r:embed="rId3"/>
            <a:stretch>
              <a:fillRect/>
            </a:stretch>
          </a:blipFill>
        </p:spPr>
        <p:txBody>
          <a:bodyPr/>
          <a:lstStyle/>
          <a:p>
            <a:endParaRPr lang="en-US"/>
          </a:p>
        </p:txBody>
      </p:sp>
      <p:graphicFrame>
        <p:nvGraphicFramePr>
          <p:cNvPr id="4" name="Table 4"/>
          <p:cNvGraphicFramePr>
            <a:graphicFrameLocks noGrp="1"/>
          </p:cNvGraphicFramePr>
          <p:nvPr/>
        </p:nvGraphicFramePr>
        <p:xfrm>
          <a:off x="8099158" y="1932272"/>
          <a:ext cx="5887373" cy="6422455"/>
        </p:xfrm>
        <a:graphic>
          <a:graphicData uri="http://schemas.openxmlformats.org/drawingml/2006/table">
            <a:tbl>
              <a:tblPr/>
              <a:tblGrid>
                <a:gridCol w="4732221">
                  <a:extLst>
                    <a:ext uri="{9D8B030D-6E8A-4147-A177-3AD203B41FA5}">
                      <a16:colId xmlns:a16="http://schemas.microsoft.com/office/drawing/2014/main" val="20000"/>
                    </a:ext>
                  </a:extLst>
                </a:gridCol>
              </a:tblGrid>
              <a:tr h="1284491">
                <a:tc>
                  <a:txBody>
                    <a:bodyPr/>
                    <a:lstStyle/>
                    <a:p>
                      <a:pPr algn="ctr">
                        <a:lnSpc>
                          <a:spcPts val="4899"/>
                        </a:lnSpc>
                        <a:defRPr/>
                      </a:pPr>
                      <a:r>
                        <a:rPr lang="en-US" sz="3499" b="1">
                          <a:solidFill>
                            <a:srgbClr val="FFFFFF"/>
                          </a:solidFill>
                          <a:latin typeface="Arimo Bold"/>
                          <a:ea typeface="Arimo Bold"/>
                          <a:cs typeface="Arimo Bold"/>
                          <a:sym typeface="Arimo Bold"/>
                        </a:rPr>
                        <a:t>Nội dung:</a:t>
                      </a:r>
                      <a:endParaRPr lang="en-US" sz="1100"/>
                    </a:p>
                  </a:txBody>
                  <a:tcPr marL="0" marR="0" marT="0" marB="0" anchor="ctr">
                    <a:lnL w="0" cap="flat" cmpd="sng" algn="ctr">
                      <a:solidFill>
                        <a:srgbClr val="10B5BF"/>
                      </a:solidFill>
                      <a:prstDash val="solid"/>
                      <a:round/>
                      <a:headEnd type="none" w="med" len="med"/>
                      <a:tailEnd type="none" w="med" len="med"/>
                    </a:lnL>
                    <a:lnR w="0" cap="flat" cmpd="sng" algn="ctr">
                      <a:solidFill>
                        <a:srgbClr val="10B5BF"/>
                      </a:solidFill>
                      <a:prstDash val="solid"/>
                      <a:round/>
                      <a:headEnd type="none" w="med" len="med"/>
                      <a:tailEnd type="none" w="med" len="med"/>
                    </a:lnR>
                    <a:lnT w="19050" cap="flat" cmpd="sng" algn="ctr">
                      <a:solidFill>
                        <a:srgbClr val="10B5BF"/>
                      </a:solidFill>
                      <a:prstDash val="solid"/>
                      <a:round/>
                      <a:headEnd type="none" w="med" len="med"/>
                      <a:tailEnd type="none" w="med" len="med"/>
                    </a:lnT>
                    <a:lnB w="19050" cap="flat" cmpd="sng" algn="ctr">
                      <a:solidFill>
                        <a:srgbClr val="10B5BF"/>
                      </a:solidFill>
                      <a:prstDash val="solid"/>
                      <a:round/>
                      <a:headEnd type="none" w="med" len="med"/>
                      <a:tailEnd type="none" w="med" len="med"/>
                    </a:lnB>
                  </a:tcPr>
                </a:tc>
                <a:extLst>
                  <a:ext uri="{0D108BD9-81ED-4DB2-BD59-A6C34878D82A}">
                    <a16:rowId xmlns:a16="http://schemas.microsoft.com/office/drawing/2014/main" val="10000"/>
                  </a:ext>
                </a:extLst>
              </a:tr>
              <a:tr h="1284491">
                <a:tc>
                  <a:txBody>
                    <a:bodyPr/>
                    <a:lstStyle/>
                    <a:p>
                      <a:pPr algn="l">
                        <a:lnSpc>
                          <a:spcPts val="4479"/>
                        </a:lnSpc>
                        <a:defRPr/>
                      </a:pPr>
                      <a:r>
                        <a:rPr lang="en-US" sz="3199">
                          <a:solidFill>
                            <a:srgbClr val="FFFFFF"/>
                          </a:solidFill>
                          <a:latin typeface="Arimo"/>
                          <a:ea typeface="Arimo"/>
                          <a:cs typeface="Arimo"/>
                          <a:sym typeface="Arimo"/>
                        </a:rPr>
                        <a:t>1. Giới Thiệu Chung</a:t>
                      </a:r>
                      <a:endParaRPr lang="en-US" sz="1100"/>
                    </a:p>
                  </a:txBody>
                  <a:tcPr marL="0" marR="0" marT="0" marB="0" anchor="ctr">
                    <a:lnL w="0" cap="flat" cmpd="sng" algn="ctr">
                      <a:solidFill>
                        <a:srgbClr val="10B5BF"/>
                      </a:solidFill>
                      <a:prstDash val="solid"/>
                      <a:round/>
                      <a:headEnd type="none" w="med" len="med"/>
                      <a:tailEnd type="none" w="med" len="med"/>
                    </a:lnL>
                    <a:lnR w="0" cap="flat" cmpd="sng" algn="ctr">
                      <a:solidFill>
                        <a:srgbClr val="10B5BF"/>
                      </a:solidFill>
                      <a:prstDash val="solid"/>
                      <a:round/>
                      <a:headEnd type="none" w="med" len="med"/>
                      <a:tailEnd type="none" w="med" len="med"/>
                    </a:lnR>
                    <a:lnT w="19050" cap="flat" cmpd="sng" algn="ctr">
                      <a:solidFill>
                        <a:srgbClr val="10B5BF"/>
                      </a:solidFill>
                      <a:prstDash val="solid"/>
                      <a:round/>
                      <a:headEnd type="none" w="med" len="med"/>
                      <a:tailEnd type="none" w="med" len="med"/>
                    </a:lnT>
                    <a:lnB w="19050" cap="flat" cmpd="sng" algn="ctr">
                      <a:solidFill>
                        <a:srgbClr val="10B5BF"/>
                      </a:solidFill>
                      <a:prstDash val="solid"/>
                      <a:round/>
                      <a:headEnd type="none" w="med" len="med"/>
                      <a:tailEnd type="none" w="med" len="med"/>
                    </a:lnB>
                  </a:tcPr>
                </a:tc>
                <a:extLst>
                  <a:ext uri="{0D108BD9-81ED-4DB2-BD59-A6C34878D82A}">
                    <a16:rowId xmlns:a16="http://schemas.microsoft.com/office/drawing/2014/main" val="10001"/>
                  </a:ext>
                </a:extLst>
              </a:tr>
              <a:tr h="1284491">
                <a:tc>
                  <a:txBody>
                    <a:bodyPr/>
                    <a:lstStyle/>
                    <a:p>
                      <a:pPr algn="l">
                        <a:lnSpc>
                          <a:spcPts val="4479"/>
                        </a:lnSpc>
                        <a:defRPr/>
                      </a:pPr>
                      <a:r>
                        <a:rPr lang="en-US" sz="3199">
                          <a:solidFill>
                            <a:srgbClr val="FFFFFF"/>
                          </a:solidFill>
                          <a:latin typeface="Arimo"/>
                          <a:ea typeface="Arimo"/>
                          <a:cs typeface="Arimo"/>
                          <a:sym typeface="Arimo"/>
                        </a:rPr>
                        <a:t>2. Sơ Đồ Hệ Thống</a:t>
                      </a:r>
                      <a:endParaRPr lang="en-US" sz="1100"/>
                    </a:p>
                  </a:txBody>
                  <a:tcPr marL="0" marR="0" marT="0" marB="0" anchor="ctr">
                    <a:lnL w="0" cap="flat" cmpd="sng" algn="ctr">
                      <a:solidFill>
                        <a:srgbClr val="10B5BF"/>
                      </a:solidFill>
                      <a:prstDash val="solid"/>
                      <a:round/>
                      <a:headEnd type="none" w="med" len="med"/>
                      <a:tailEnd type="none" w="med" len="med"/>
                    </a:lnL>
                    <a:lnR w="0" cap="flat" cmpd="sng" algn="ctr">
                      <a:solidFill>
                        <a:srgbClr val="10B5BF"/>
                      </a:solidFill>
                      <a:prstDash val="solid"/>
                      <a:round/>
                      <a:headEnd type="none" w="med" len="med"/>
                      <a:tailEnd type="none" w="med" len="med"/>
                    </a:lnR>
                    <a:lnT w="19050" cap="flat" cmpd="sng" algn="ctr">
                      <a:solidFill>
                        <a:srgbClr val="10B5BF"/>
                      </a:solidFill>
                      <a:prstDash val="solid"/>
                      <a:round/>
                      <a:headEnd type="none" w="med" len="med"/>
                      <a:tailEnd type="none" w="med" len="med"/>
                    </a:lnT>
                    <a:lnB w="19050" cap="flat" cmpd="sng" algn="ctr">
                      <a:solidFill>
                        <a:srgbClr val="10B5BF"/>
                      </a:solidFill>
                      <a:prstDash val="solid"/>
                      <a:round/>
                      <a:headEnd type="none" w="med" len="med"/>
                      <a:tailEnd type="none" w="med" len="med"/>
                    </a:lnB>
                  </a:tcPr>
                </a:tc>
                <a:extLst>
                  <a:ext uri="{0D108BD9-81ED-4DB2-BD59-A6C34878D82A}">
                    <a16:rowId xmlns:a16="http://schemas.microsoft.com/office/drawing/2014/main" val="10002"/>
                  </a:ext>
                </a:extLst>
              </a:tr>
              <a:tr h="1284491">
                <a:tc>
                  <a:txBody>
                    <a:bodyPr/>
                    <a:lstStyle/>
                    <a:p>
                      <a:pPr algn="l">
                        <a:lnSpc>
                          <a:spcPts val="4479"/>
                        </a:lnSpc>
                        <a:defRPr/>
                      </a:pPr>
                      <a:r>
                        <a:rPr lang="en-US" sz="3199">
                          <a:solidFill>
                            <a:srgbClr val="FFFFFF"/>
                          </a:solidFill>
                          <a:latin typeface="Arimo"/>
                          <a:ea typeface="Arimo"/>
                          <a:cs typeface="Arimo"/>
                          <a:sym typeface="Arimo"/>
                        </a:rPr>
                        <a:t>3. Thông tin cài đặt hệ thống</a:t>
                      </a:r>
                      <a:endParaRPr lang="en-US" sz="1100"/>
                    </a:p>
                  </a:txBody>
                  <a:tcPr marL="0" marR="0" marT="0" marB="0" anchor="ctr">
                    <a:lnL w="0" cap="flat" cmpd="sng" algn="ctr">
                      <a:solidFill>
                        <a:srgbClr val="10B5BF"/>
                      </a:solidFill>
                      <a:prstDash val="solid"/>
                      <a:round/>
                      <a:headEnd type="none" w="med" len="med"/>
                      <a:tailEnd type="none" w="med" len="med"/>
                    </a:lnL>
                    <a:lnR w="0" cap="flat" cmpd="sng" algn="ctr">
                      <a:solidFill>
                        <a:srgbClr val="10B5BF"/>
                      </a:solidFill>
                      <a:prstDash val="solid"/>
                      <a:round/>
                      <a:headEnd type="none" w="med" len="med"/>
                      <a:tailEnd type="none" w="med" len="med"/>
                    </a:lnR>
                    <a:lnT w="19050" cap="flat" cmpd="sng" algn="ctr">
                      <a:solidFill>
                        <a:srgbClr val="10B5BF"/>
                      </a:solidFill>
                      <a:prstDash val="solid"/>
                      <a:round/>
                      <a:headEnd type="none" w="med" len="med"/>
                      <a:tailEnd type="none" w="med" len="med"/>
                    </a:lnT>
                    <a:lnB w="19050" cap="flat" cmpd="sng" algn="ctr">
                      <a:solidFill>
                        <a:srgbClr val="10B5BF"/>
                      </a:solidFill>
                      <a:prstDash val="solid"/>
                      <a:round/>
                      <a:headEnd type="none" w="med" len="med"/>
                      <a:tailEnd type="none" w="med" len="med"/>
                    </a:lnB>
                  </a:tcPr>
                </a:tc>
                <a:extLst>
                  <a:ext uri="{0D108BD9-81ED-4DB2-BD59-A6C34878D82A}">
                    <a16:rowId xmlns:a16="http://schemas.microsoft.com/office/drawing/2014/main" val="10003"/>
                  </a:ext>
                </a:extLst>
              </a:tr>
              <a:tr h="1284491">
                <a:tc>
                  <a:txBody>
                    <a:bodyPr/>
                    <a:lstStyle/>
                    <a:p>
                      <a:pPr algn="l">
                        <a:lnSpc>
                          <a:spcPts val="4479"/>
                        </a:lnSpc>
                        <a:defRPr/>
                      </a:pPr>
                      <a:r>
                        <a:rPr lang="en-US" sz="3199">
                          <a:solidFill>
                            <a:srgbClr val="FFFFFF"/>
                          </a:solidFill>
                          <a:latin typeface="Arimo"/>
                          <a:ea typeface="Arimo"/>
                          <a:cs typeface="Arimo"/>
                          <a:sym typeface="Arimo"/>
                        </a:rPr>
                        <a:t>4. Cấu hình hạ tầng</a:t>
                      </a:r>
                      <a:endParaRPr lang="en-US" sz="1100"/>
                    </a:p>
                  </a:txBody>
                  <a:tcPr marL="0" marR="0" marT="0" marB="0" anchor="ctr">
                    <a:lnL w="0" cap="flat" cmpd="sng" algn="ctr">
                      <a:solidFill>
                        <a:srgbClr val="10B5BF"/>
                      </a:solidFill>
                      <a:prstDash val="solid"/>
                      <a:round/>
                      <a:headEnd type="none" w="med" len="med"/>
                      <a:tailEnd type="none" w="med" len="med"/>
                    </a:lnL>
                    <a:lnR w="0" cap="flat" cmpd="sng" algn="ctr">
                      <a:solidFill>
                        <a:srgbClr val="10B5BF"/>
                      </a:solidFill>
                      <a:prstDash val="solid"/>
                      <a:round/>
                      <a:headEnd type="none" w="med" len="med"/>
                      <a:tailEnd type="none" w="med" len="med"/>
                    </a:lnR>
                    <a:lnT w="19050" cap="flat" cmpd="sng" algn="ctr">
                      <a:solidFill>
                        <a:srgbClr val="10B5BF"/>
                      </a:solidFill>
                      <a:prstDash val="solid"/>
                      <a:round/>
                      <a:headEnd type="none" w="med" len="med"/>
                      <a:tailEnd type="none" w="med" len="med"/>
                    </a:lnT>
                    <a:lnB w="19050" cap="flat" cmpd="sng" algn="ctr">
                      <a:solidFill>
                        <a:srgbClr val="10B5B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Freeform 5"/>
          <p:cNvSpPr/>
          <p:nvPr/>
        </p:nvSpPr>
        <p:spPr>
          <a:xfrm>
            <a:off x="15234733" y="0"/>
            <a:ext cx="3044931" cy="1753992"/>
          </a:xfrm>
          <a:custGeom>
            <a:avLst/>
            <a:gdLst/>
            <a:ahLst/>
            <a:cxnLst/>
            <a:rect l="l" t="t" r="r" b="b"/>
            <a:pathLst>
              <a:path w="3044931" h="1753992">
                <a:moveTo>
                  <a:pt x="0" y="0"/>
                </a:moveTo>
                <a:lnTo>
                  <a:pt x="3044931" y="0"/>
                </a:lnTo>
                <a:lnTo>
                  <a:pt x="3044931" y="1753992"/>
                </a:lnTo>
                <a:lnTo>
                  <a:pt x="0" y="1753992"/>
                </a:lnTo>
                <a:lnTo>
                  <a:pt x="0" y="0"/>
                </a:lnTo>
                <a:close/>
              </a:path>
            </a:pathLst>
          </a:custGeom>
          <a:blipFill>
            <a:blip r:embed="rId4"/>
            <a:stretch>
              <a:fillRect/>
            </a:stretch>
          </a:blipFill>
        </p:spPr>
        <p:txBody>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flipH="1">
            <a:off x="0" y="5758520"/>
            <a:ext cx="4024687" cy="4528480"/>
          </a:xfrm>
          <a:custGeom>
            <a:avLst/>
            <a:gdLst/>
            <a:ahLst/>
            <a:cxnLst/>
            <a:rect l="l" t="t" r="r" b="b"/>
            <a:pathLst>
              <a:path w="4024687" h="4528480">
                <a:moveTo>
                  <a:pt x="4024687" y="0"/>
                </a:moveTo>
                <a:lnTo>
                  <a:pt x="0" y="0"/>
                </a:lnTo>
                <a:lnTo>
                  <a:pt x="0" y="4528480"/>
                </a:lnTo>
                <a:lnTo>
                  <a:pt x="4024687" y="4528480"/>
                </a:lnTo>
                <a:lnTo>
                  <a:pt x="4024687" y="0"/>
                </a:lnTo>
                <a:close/>
              </a:path>
            </a:pathLst>
          </a:custGeom>
          <a:blipFill>
            <a:blip r:embed="rId2"/>
            <a:stretch>
              <a:fillRect/>
            </a:stretch>
          </a:blipFill>
        </p:spPr>
        <p:txBody>
          <a:bodyPr/>
          <a:lstStyle/>
          <a:p>
            <a:endParaRPr lang="en-US"/>
          </a:p>
        </p:txBody>
      </p:sp>
      <p:sp>
        <p:nvSpPr>
          <p:cNvPr id="3" name="AutoShape 3"/>
          <p:cNvSpPr/>
          <p:nvPr/>
        </p:nvSpPr>
        <p:spPr>
          <a:xfrm>
            <a:off x="7477518" y="5516450"/>
            <a:ext cx="3517283" cy="0"/>
          </a:xfrm>
          <a:prstGeom prst="line">
            <a:avLst/>
          </a:prstGeom>
          <a:ln w="19050" cap="rnd">
            <a:solidFill>
              <a:srgbClr val="10B5BF"/>
            </a:solidFill>
            <a:prstDash val="solid"/>
            <a:headEnd type="none" w="sm" len="sm"/>
            <a:tailEnd type="none" w="sm" len="sm"/>
          </a:ln>
        </p:spPr>
        <p:txBody>
          <a:bodyPr/>
          <a:lstStyle/>
          <a:p>
            <a:endParaRPr lang="en-US"/>
          </a:p>
        </p:txBody>
      </p:sp>
      <p:sp>
        <p:nvSpPr>
          <p:cNvPr id="4" name="TextBox 4"/>
          <p:cNvSpPr txBox="1"/>
          <p:nvPr/>
        </p:nvSpPr>
        <p:spPr>
          <a:xfrm>
            <a:off x="6887618" y="4522130"/>
            <a:ext cx="4512763" cy="762000"/>
          </a:xfrm>
          <a:prstGeom prst="rect">
            <a:avLst/>
          </a:prstGeom>
        </p:spPr>
        <p:txBody>
          <a:bodyPr lIns="0" tIns="0" rIns="0" bIns="0" rtlCol="0" anchor="t">
            <a:spAutoFit/>
          </a:bodyPr>
          <a:lstStyle/>
          <a:p>
            <a:pPr algn="ctr">
              <a:lnSpc>
                <a:spcPts val="5640"/>
              </a:lnSpc>
            </a:pPr>
            <a:r>
              <a:rPr lang="en-US" sz="4700" b="1">
                <a:solidFill>
                  <a:srgbClr val="FFFFFF"/>
                </a:solidFill>
                <a:latin typeface="Poppins Bold"/>
                <a:ea typeface="Poppins Bold"/>
                <a:cs typeface="Poppins Bold"/>
                <a:sym typeface="Poppins Bold"/>
              </a:rPr>
              <a:t>1. GIỚI THIỆU </a:t>
            </a:r>
          </a:p>
        </p:txBody>
      </p:sp>
      <p:sp>
        <p:nvSpPr>
          <p:cNvPr id="5" name="Freeform 5"/>
          <p:cNvSpPr/>
          <p:nvPr/>
        </p:nvSpPr>
        <p:spPr>
          <a:xfrm>
            <a:off x="15234733" y="0"/>
            <a:ext cx="3044931" cy="1753992"/>
          </a:xfrm>
          <a:custGeom>
            <a:avLst/>
            <a:gdLst/>
            <a:ahLst/>
            <a:cxnLst/>
            <a:rect l="l" t="t" r="r" b="b"/>
            <a:pathLst>
              <a:path w="3044931" h="1753992">
                <a:moveTo>
                  <a:pt x="0" y="0"/>
                </a:moveTo>
                <a:lnTo>
                  <a:pt x="3044931" y="0"/>
                </a:lnTo>
                <a:lnTo>
                  <a:pt x="3044931" y="1753992"/>
                </a:lnTo>
                <a:lnTo>
                  <a:pt x="0" y="1753992"/>
                </a:lnTo>
                <a:lnTo>
                  <a:pt x="0" y="0"/>
                </a:lnTo>
                <a:close/>
              </a:path>
            </a:pathLst>
          </a:custGeom>
          <a:blipFill>
            <a:blip r:embed="rId3"/>
            <a:stretch>
              <a:fillRect/>
            </a:stretch>
          </a:blipFill>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flipH="1">
            <a:off x="0" y="5758520"/>
            <a:ext cx="4024687" cy="4528480"/>
          </a:xfrm>
          <a:custGeom>
            <a:avLst/>
            <a:gdLst/>
            <a:ahLst/>
            <a:cxnLst/>
            <a:rect l="l" t="t" r="r" b="b"/>
            <a:pathLst>
              <a:path w="4024687" h="4528480">
                <a:moveTo>
                  <a:pt x="4024687" y="0"/>
                </a:moveTo>
                <a:lnTo>
                  <a:pt x="0" y="0"/>
                </a:lnTo>
                <a:lnTo>
                  <a:pt x="0" y="4528480"/>
                </a:lnTo>
                <a:lnTo>
                  <a:pt x="4024687" y="4528480"/>
                </a:lnTo>
                <a:lnTo>
                  <a:pt x="4024687" y="0"/>
                </a:lnTo>
                <a:close/>
              </a:path>
            </a:pathLst>
          </a:custGeom>
          <a:blipFill>
            <a:blip r:embed="rId2"/>
            <a:stretch>
              <a:fillRect/>
            </a:stretch>
          </a:blipFill>
        </p:spPr>
        <p:txBody>
          <a:bodyPr/>
          <a:lstStyle/>
          <a:p>
            <a:endParaRPr lang="en-US"/>
          </a:p>
        </p:txBody>
      </p:sp>
      <p:sp>
        <p:nvSpPr>
          <p:cNvPr id="3" name="TextBox 3"/>
          <p:cNvSpPr txBox="1"/>
          <p:nvPr/>
        </p:nvSpPr>
        <p:spPr>
          <a:xfrm>
            <a:off x="2802339" y="412428"/>
            <a:ext cx="12674985" cy="1685925"/>
          </a:xfrm>
          <a:prstGeom prst="rect">
            <a:avLst/>
          </a:prstGeom>
        </p:spPr>
        <p:txBody>
          <a:bodyPr lIns="0" tIns="0" rIns="0" bIns="0" rtlCol="0" anchor="t">
            <a:spAutoFit/>
          </a:bodyPr>
          <a:lstStyle/>
          <a:p>
            <a:pPr algn="ctr">
              <a:lnSpc>
                <a:spcPts val="4680"/>
              </a:lnSpc>
            </a:pPr>
            <a:r>
              <a:rPr lang="en-US" sz="3900" b="1">
                <a:solidFill>
                  <a:srgbClr val="FFFFFF"/>
                </a:solidFill>
                <a:latin typeface="Arimo Bold"/>
                <a:ea typeface="Arimo Bold"/>
                <a:cs typeface="Arimo Bold"/>
                <a:sym typeface="Arimo Bold"/>
              </a:rPr>
              <a:t>ĐỀ TÀI: NGHIÊN CỨU VÀ XÂY DỰNG HỆ THỐNG BẢO MẬT MẠNG KHÔNG DÂY CHO DOANG NGHIỆP</a:t>
            </a:r>
          </a:p>
          <a:p>
            <a:pPr algn="l">
              <a:lnSpc>
                <a:spcPts val="3840"/>
              </a:lnSpc>
            </a:pPr>
            <a:endParaRPr lang="en-US" sz="3900" b="1">
              <a:solidFill>
                <a:srgbClr val="FFFFFF"/>
              </a:solidFill>
              <a:latin typeface="Arimo Bold"/>
              <a:ea typeface="Arimo Bold"/>
              <a:cs typeface="Arimo Bold"/>
              <a:sym typeface="Arimo Bold"/>
            </a:endParaRPr>
          </a:p>
        </p:txBody>
      </p:sp>
      <p:sp>
        <p:nvSpPr>
          <p:cNvPr id="4" name="AutoShape 4"/>
          <p:cNvSpPr/>
          <p:nvPr/>
        </p:nvSpPr>
        <p:spPr>
          <a:xfrm>
            <a:off x="1552419" y="5488898"/>
            <a:ext cx="9363986" cy="0"/>
          </a:xfrm>
          <a:prstGeom prst="line">
            <a:avLst/>
          </a:prstGeom>
          <a:ln w="19050" cap="rnd">
            <a:solidFill>
              <a:srgbClr val="10B5BF"/>
            </a:solidFill>
            <a:prstDash val="solid"/>
            <a:headEnd type="none" w="sm" len="sm"/>
            <a:tailEnd type="none" w="sm" len="sm"/>
          </a:ln>
        </p:spPr>
        <p:txBody>
          <a:bodyPr/>
          <a:lstStyle/>
          <a:p>
            <a:endParaRPr lang="en-US"/>
          </a:p>
        </p:txBody>
      </p:sp>
      <p:sp>
        <p:nvSpPr>
          <p:cNvPr id="5" name="TextBox 5"/>
          <p:cNvSpPr txBox="1"/>
          <p:nvPr/>
        </p:nvSpPr>
        <p:spPr>
          <a:xfrm>
            <a:off x="1735387" y="2685626"/>
            <a:ext cx="9181018" cy="2114550"/>
          </a:xfrm>
          <a:prstGeom prst="rect">
            <a:avLst/>
          </a:prstGeom>
        </p:spPr>
        <p:txBody>
          <a:bodyPr lIns="0" tIns="0" rIns="0" bIns="0" rtlCol="0" anchor="t">
            <a:spAutoFit/>
          </a:bodyPr>
          <a:lstStyle/>
          <a:p>
            <a:pPr algn="ctr">
              <a:lnSpc>
                <a:spcPts val="3324"/>
              </a:lnSpc>
              <a:spcBef>
                <a:spcPct val="0"/>
              </a:spcBef>
            </a:pPr>
            <a:r>
              <a:rPr lang="en-US" sz="2770">
                <a:solidFill>
                  <a:srgbClr val="FFFFFF"/>
                </a:solidFill>
                <a:latin typeface="Arimo"/>
                <a:ea typeface="Arimo"/>
                <a:cs typeface="Arimo"/>
                <a:sym typeface="Arimo"/>
              </a:rPr>
              <a:t>Trong bối cảnh công nghệ thông tin phát triển vượt bậc, mạng không dây đã trở thành một phần không thể thiếu của hạ tầng mạng doanh nghiệp. Mạng không dây dễ bị tấn công và xâm nhập, gây ra nguy cơ mất mát dữ liệu, gián đoạn hoạt động kinh doanh và thiệt hại tài chính.</a:t>
            </a:r>
          </a:p>
        </p:txBody>
      </p:sp>
      <p:sp>
        <p:nvSpPr>
          <p:cNvPr id="6" name="AutoShape 6"/>
          <p:cNvSpPr/>
          <p:nvPr/>
        </p:nvSpPr>
        <p:spPr>
          <a:xfrm flipV="1">
            <a:off x="0" y="1976083"/>
            <a:ext cx="18279664" cy="0"/>
          </a:xfrm>
          <a:prstGeom prst="line">
            <a:avLst/>
          </a:prstGeom>
          <a:ln w="19050" cap="rnd">
            <a:solidFill>
              <a:srgbClr val="10B5BF"/>
            </a:solidFill>
            <a:prstDash val="solid"/>
            <a:headEnd type="none" w="sm" len="sm"/>
            <a:tailEnd type="none" w="sm" len="sm"/>
          </a:ln>
        </p:spPr>
        <p:txBody>
          <a:bodyPr/>
          <a:lstStyle/>
          <a:p>
            <a:endParaRPr lang="en-US"/>
          </a:p>
        </p:txBody>
      </p:sp>
      <p:sp>
        <p:nvSpPr>
          <p:cNvPr id="7" name="TextBox 7"/>
          <p:cNvSpPr txBox="1"/>
          <p:nvPr/>
        </p:nvSpPr>
        <p:spPr>
          <a:xfrm>
            <a:off x="9144000" y="6683610"/>
            <a:ext cx="7110237" cy="1695450"/>
          </a:xfrm>
          <a:prstGeom prst="rect">
            <a:avLst/>
          </a:prstGeom>
        </p:spPr>
        <p:txBody>
          <a:bodyPr lIns="0" tIns="0" rIns="0" bIns="0" rtlCol="0" anchor="t">
            <a:spAutoFit/>
          </a:bodyPr>
          <a:lstStyle/>
          <a:p>
            <a:pPr algn="ctr">
              <a:lnSpc>
                <a:spcPts val="3324"/>
              </a:lnSpc>
              <a:spcBef>
                <a:spcPct val="0"/>
              </a:spcBef>
            </a:pPr>
            <a:r>
              <a:rPr lang="en-US" sz="2770">
                <a:solidFill>
                  <a:srgbClr val="FFFFFF"/>
                </a:solidFill>
                <a:latin typeface="Arimo"/>
                <a:ea typeface="Arimo"/>
                <a:cs typeface="Arimo"/>
                <a:sym typeface="Arimo"/>
              </a:rPr>
              <a:t> Do đó, việc nghiên cứu và xây dựng một hệ thống bảo mật mạng không dây hiệu quả là hết sức cần thiết để bảo vệ thông tin và hoạt động của doanh nghiệp.</a:t>
            </a:r>
          </a:p>
        </p:txBody>
      </p:sp>
      <p:sp>
        <p:nvSpPr>
          <p:cNvPr id="8" name="Freeform 8"/>
          <p:cNvSpPr/>
          <p:nvPr/>
        </p:nvSpPr>
        <p:spPr>
          <a:xfrm>
            <a:off x="16154400" y="0"/>
            <a:ext cx="2125264" cy="1266539"/>
          </a:xfrm>
          <a:custGeom>
            <a:avLst/>
            <a:gdLst/>
            <a:ahLst/>
            <a:cxnLst/>
            <a:rect l="l" t="t" r="r" b="b"/>
            <a:pathLst>
              <a:path w="3044931" h="1753992">
                <a:moveTo>
                  <a:pt x="0" y="0"/>
                </a:moveTo>
                <a:lnTo>
                  <a:pt x="3044931" y="0"/>
                </a:lnTo>
                <a:lnTo>
                  <a:pt x="3044931" y="1753992"/>
                </a:lnTo>
                <a:lnTo>
                  <a:pt x="0" y="1753992"/>
                </a:lnTo>
                <a:lnTo>
                  <a:pt x="0" y="0"/>
                </a:lnTo>
                <a:close/>
              </a:path>
            </a:pathLst>
          </a:custGeom>
          <a:blipFill>
            <a:blip r:embed="rId3"/>
            <a:stretch>
              <a:fillRect/>
            </a:stretch>
          </a:blipFill>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10746465" y="2604403"/>
            <a:ext cx="6146983" cy="6146983"/>
          </a:xfrm>
          <a:custGeom>
            <a:avLst/>
            <a:gdLst/>
            <a:ahLst/>
            <a:cxnLst/>
            <a:rect l="l" t="t" r="r" b="b"/>
            <a:pathLst>
              <a:path w="6146983" h="6146983">
                <a:moveTo>
                  <a:pt x="0" y="0"/>
                </a:moveTo>
                <a:lnTo>
                  <a:pt x="6146983" y="0"/>
                </a:lnTo>
                <a:lnTo>
                  <a:pt x="6146983" y="6146984"/>
                </a:lnTo>
                <a:lnTo>
                  <a:pt x="0" y="6146984"/>
                </a:lnTo>
                <a:lnTo>
                  <a:pt x="0" y="0"/>
                </a:lnTo>
                <a:close/>
              </a:path>
            </a:pathLst>
          </a:custGeom>
          <a:blipFill>
            <a:blip r:embed="rId2"/>
            <a:stretch>
              <a:fillRect/>
            </a:stretch>
          </a:blipFill>
        </p:spPr>
        <p:txBody>
          <a:bodyPr/>
          <a:lstStyle/>
          <a:p>
            <a:endParaRPr lang="en-US"/>
          </a:p>
        </p:txBody>
      </p:sp>
      <p:sp>
        <p:nvSpPr>
          <p:cNvPr id="3" name="Freeform 3"/>
          <p:cNvSpPr/>
          <p:nvPr/>
        </p:nvSpPr>
        <p:spPr>
          <a:xfrm>
            <a:off x="15234733" y="0"/>
            <a:ext cx="3044931" cy="1753992"/>
          </a:xfrm>
          <a:custGeom>
            <a:avLst/>
            <a:gdLst/>
            <a:ahLst/>
            <a:cxnLst/>
            <a:rect l="l" t="t" r="r" b="b"/>
            <a:pathLst>
              <a:path w="3044931" h="1753992">
                <a:moveTo>
                  <a:pt x="0" y="0"/>
                </a:moveTo>
                <a:lnTo>
                  <a:pt x="3044931" y="0"/>
                </a:lnTo>
                <a:lnTo>
                  <a:pt x="3044931" y="1753992"/>
                </a:lnTo>
                <a:lnTo>
                  <a:pt x="0" y="1753992"/>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909531" y="1392042"/>
            <a:ext cx="5580936" cy="752475"/>
          </a:xfrm>
          <a:prstGeom prst="rect">
            <a:avLst/>
          </a:prstGeom>
        </p:spPr>
        <p:txBody>
          <a:bodyPr lIns="0" tIns="0" rIns="0" bIns="0" rtlCol="0" anchor="t">
            <a:spAutoFit/>
          </a:bodyPr>
          <a:lstStyle/>
          <a:p>
            <a:pPr algn="ctr">
              <a:lnSpc>
                <a:spcPts val="5604"/>
              </a:lnSpc>
              <a:spcBef>
                <a:spcPct val="0"/>
              </a:spcBef>
            </a:pPr>
            <a:r>
              <a:rPr lang="en-US" sz="4670" b="1">
                <a:solidFill>
                  <a:srgbClr val="FFFFFF"/>
                </a:solidFill>
                <a:latin typeface="Poppins Bold"/>
                <a:ea typeface="Poppins Bold"/>
                <a:cs typeface="Poppins Bold"/>
                <a:sym typeface="Poppins Bold"/>
              </a:rPr>
              <a:t>MẠNG KHÔNG DÂY</a:t>
            </a:r>
          </a:p>
        </p:txBody>
      </p:sp>
      <p:sp>
        <p:nvSpPr>
          <p:cNvPr id="5" name="TextBox 5"/>
          <p:cNvSpPr txBox="1"/>
          <p:nvPr/>
        </p:nvSpPr>
        <p:spPr>
          <a:xfrm>
            <a:off x="1028700" y="3238500"/>
            <a:ext cx="8627429" cy="4219575"/>
          </a:xfrm>
          <a:prstGeom prst="rect">
            <a:avLst/>
          </a:prstGeom>
        </p:spPr>
        <p:txBody>
          <a:bodyPr lIns="0" tIns="0" rIns="0" bIns="0" rtlCol="0" anchor="t">
            <a:spAutoFit/>
          </a:bodyPr>
          <a:lstStyle/>
          <a:p>
            <a:pPr marL="662981" lvl="1" indent="-331490" algn="l">
              <a:lnSpc>
                <a:spcPts val="3684"/>
              </a:lnSpc>
              <a:buFont typeface="Arial"/>
              <a:buChar char="•"/>
            </a:pPr>
            <a:r>
              <a:rPr lang="en-US" sz="3070">
                <a:solidFill>
                  <a:srgbClr val="FFFFFF"/>
                </a:solidFill>
                <a:latin typeface="Arimo"/>
                <a:ea typeface="Arimo"/>
                <a:cs typeface="Arimo"/>
                <a:sym typeface="Arimo"/>
              </a:rPr>
              <a:t>WLAN: Kết nối thiết bị qua sóng vô tuyến, không cần cáp.</a:t>
            </a:r>
          </a:p>
          <a:p>
            <a:pPr marL="662981" lvl="1" indent="-331490" algn="l">
              <a:lnSpc>
                <a:spcPts val="3684"/>
              </a:lnSpc>
              <a:buFont typeface="Arial"/>
              <a:buChar char="•"/>
            </a:pPr>
            <a:r>
              <a:rPr lang="en-US" sz="3070">
                <a:solidFill>
                  <a:srgbClr val="FFFFFF"/>
                </a:solidFill>
                <a:latin typeface="Arimo"/>
                <a:ea typeface="Arimo"/>
                <a:cs typeface="Arimo"/>
                <a:sym typeface="Arimo"/>
              </a:rPr>
              <a:t>So sánh có dây vs không dây:</a:t>
            </a:r>
          </a:p>
          <a:p>
            <a:pPr marL="1325962" lvl="2" indent="-441987" algn="l">
              <a:lnSpc>
                <a:spcPts val="3684"/>
              </a:lnSpc>
              <a:buFont typeface="Arial"/>
              <a:buChar char="⚬"/>
            </a:pPr>
            <a:r>
              <a:rPr lang="en-US" sz="3070">
                <a:solidFill>
                  <a:srgbClr val="FFFFFF"/>
                </a:solidFill>
                <a:latin typeface="Arimo"/>
                <a:ea typeface="Arimo"/>
                <a:cs typeface="Arimo"/>
                <a:sym typeface="Arimo"/>
              </a:rPr>
              <a:t>Có dây: Bảo mật cao, ổn định, chi phí lắp đặt cao.</a:t>
            </a:r>
          </a:p>
          <a:p>
            <a:pPr marL="1325962" lvl="2" indent="-441987" algn="l">
              <a:lnSpc>
                <a:spcPts val="3684"/>
              </a:lnSpc>
              <a:buFont typeface="Arial"/>
              <a:buChar char="⚬"/>
            </a:pPr>
            <a:r>
              <a:rPr lang="en-US" sz="3070">
                <a:solidFill>
                  <a:srgbClr val="FFFFFF"/>
                </a:solidFill>
                <a:latin typeface="Arimo"/>
                <a:ea typeface="Arimo"/>
                <a:cs typeface="Arimo"/>
                <a:sym typeface="Arimo"/>
              </a:rPr>
              <a:t>Không dây: Linh hoạt, dễ mở rộng, cần bảo mật mạnh.</a:t>
            </a:r>
          </a:p>
          <a:p>
            <a:pPr marL="662981" lvl="1" indent="-331490" algn="l">
              <a:lnSpc>
                <a:spcPts val="3684"/>
              </a:lnSpc>
              <a:buFont typeface="Arial"/>
              <a:buChar char="•"/>
            </a:pPr>
            <a:r>
              <a:rPr lang="en-US" sz="3070">
                <a:solidFill>
                  <a:srgbClr val="FFFFFF"/>
                </a:solidFill>
                <a:latin typeface="Arimo"/>
                <a:ea typeface="Arimo"/>
                <a:cs typeface="Arimo"/>
                <a:sym typeface="Arimo"/>
              </a:rPr>
              <a:t>•WiFi trong doanh nghiệp: Tiện lợi, hỗ trợ đa thiết bị, yêu cầu bảo mật cao.</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15234733" y="0"/>
            <a:ext cx="3044931" cy="1753992"/>
          </a:xfrm>
          <a:custGeom>
            <a:avLst/>
            <a:gdLst/>
            <a:ahLst/>
            <a:cxnLst/>
            <a:rect l="l" t="t" r="r" b="b"/>
            <a:pathLst>
              <a:path w="3044931" h="1753992">
                <a:moveTo>
                  <a:pt x="0" y="0"/>
                </a:moveTo>
                <a:lnTo>
                  <a:pt x="3044931" y="0"/>
                </a:lnTo>
                <a:lnTo>
                  <a:pt x="3044931" y="1753992"/>
                </a:lnTo>
                <a:lnTo>
                  <a:pt x="0" y="1753992"/>
                </a:lnTo>
                <a:lnTo>
                  <a:pt x="0" y="0"/>
                </a:lnTo>
                <a:close/>
              </a:path>
            </a:pathLst>
          </a:custGeom>
          <a:blipFill>
            <a:blip r:embed="rId2"/>
            <a:stretch>
              <a:fillRect/>
            </a:stretch>
          </a:blipFill>
        </p:spPr>
        <p:txBody>
          <a:bodyPr/>
          <a:lstStyle/>
          <a:p>
            <a:endParaRPr lang="en-US"/>
          </a:p>
        </p:txBody>
      </p:sp>
      <p:sp>
        <p:nvSpPr>
          <p:cNvPr id="3" name="Freeform 3"/>
          <p:cNvSpPr/>
          <p:nvPr/>
        </p:nvSpPr>
        <p:spPr>
          <a:xfrm>
            <a:off x="9144000" y="2445111"/>
            <a:ext cx="8743570" cy="5825403"/>
          </a:xfrm>
          <a:custGeom>
            <a:avLst/>
            <a:gdLst/>
            <a:ahLst/>
            <a:cxnLst/>
            <a:rect l="l" t="t" r="r" b="b"/>
            <a:pathLst>
              <a:path w="8743570" h="5825403">
                <a:moveTo>
                  <a:pt x="0" y="0"/>
                </a:moveTo>
                <a:lnTo>
                  <a:pt x="8743570" y="0"/>
                </a:lnTo>
                <a:lnTo>
                  <a:pt x="8743570" y="5825403"/>
                </a:lnTo>
                <a:lnTo>
                  <a:pt x="0" y="5825403"/>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1028700" y="690562"/>
            <a:ext cx="6801579" cy="8886825"/>
          </a:xfrm>
          <a:prstGeom prst="rect">
            <a:avLst/>
          </a:prstGeom>
        </p:spPr>
        <p:txBody>
          <a:bodyPr lIns="0" tIns="0" rIns="0" bIns="0" rtlCol="0" anchor="t">
            <a:spAutoFit/>
          </a:bodyPr>
          <a:lstStyle/>
          <a:p>
            <a:pPr marL="662981" lvl="1" indent="-331490" algn="l">
              <a:lnSpc>
                <a:spcPts val="3684"/>
              </a:lnSpc>
              <a:buFont typeface="Arial"/>
              <a:buChar char="•"/>
            </a:pPr>
            <a:r>
              <a:rPr lang="en-US" sz="3070">
                <a:solidFill>
                  <a:srgbClr val="FFFFFF"/>
                </a:solidFill>
                <a:latin typeface="Arimo"/>
                <a:ea typeface="Arimo"/>
                <a:cs typeface="Arimo"/>
                <a:sym typeface="Arimo"/>
              </a:rPr>
              <a:t>802.11a: 5 GHz, 54 Mbps, ít nhiễu, phạm vi ngắn</a:t>
            </a:r>
          </a:p>
          <a:p>
            <a:pPr algn="l">
              <a:lnSpc>
                <a:spcPts val="3684"/>
              </a:lnSpc>
            </a:pPr>
            <a:endParaRPr lang="en-US" sz="3070">
              <a:solidFill>
                <a:srgbClr val="FFFFFF"/>
              </a:solidFill>
              <a:latin typeface="Arimo"/>
              <a:ea typeface="Arimo"/>
              <a:cs typeface="Arimo"/>
              <a:sym typeface="Arimo"/>
            </a:endParaRPr>
          </a:p>
          <a:p>
            <a:pPr marL="662981" lvl="1" indent="-331490" algn="l">
              <a:lnSpc>
                <a:spcPts val="3684"/>
              </a:lnSpc>
              <a:buFont typeface="Arial"/>
              <a:buChar char="•"/>
            </a:pPr>
            <a:r>
              <a:rPr lang="en-US" sz="3070">
                <a:solidFill>
                  <a:srgbClr val="FFFFFF"/>
                </a:solidFill>
                <a:latin typeface="Arimo"/>
                <a:ea typeface="Arimo"/>
                <a:cs typeface="Arimo"/>
                <a:sym typeface="Arimo"/>
              </a:rPr>
              <a:t>802.11b: 2.4 GHz, 11 Mbps, phạm vi rộng, dễ nhiễu</a:t>
            </a:r>
          </a:p>
          <a:p>
            <a:pPr algn="l">
              <a:lnSpc>
                <a:spcPts val="3684"/>
              </a:lnSpc>
            </a:pPr>
            <a:endParaRPr lang="en-US" sz="3070">
              <a:solidFill>
                <a:srgbClr val="FFFFFF"/>
              </a:solidFill>
              <a:latin typeface="Arimo"/>
              <a:ea typeface="Arimo"/>
              <a:cs typeface="Arimo"/>
              <a:sym typeface="Arimo"/>
            </a:endParaRPr>
          </a:p>
          <a:p>
            <a:pPr marL="662981" lvl="1" indent="-331490" algn="l">
              <a:lnSpc>
                <a:spcPts val="3684"/>
              </a:lnSpc>
              <a:buFont typeface="Arial"/>
              <a:buChar char="•"/>
            </a:pPr>
            <a:r>
              <a:rPr lang="en-US" sz="3070">
                <a:solidFill>
                  <a:srgbClr val="FFFFFF"/>
                </a:solidFill>
                <a:latin typeface="Arimo"/>
                <a:ea typeface="Arimo"/>
                <a:cs typeface="Arimo"/>
                <a:sym typeface="Arimo"/>
              </a:rPr>
              <a:t>802.11g: 2.4 GHz, 54 Mbps, cải thiện từ 802.11b</a:t>
            </a:r>
          </a:p>
          <a:p>
            <a:pPr algn="l">
              <a:lnSpc>
                <a:spcPts val="3684"/>
              </a:lnSpc>
            </a:pPr>
            <a:endParaRPr lang="en-US" sz="3070">
              <a:solidFill>
                <a:srgbClr val="FFFFFF"/>
              </a:solidFill>
              <a:latin typeface="Arimo"/>
              <a:ea typeface="Arimo"/>
              <a:cs typeface="Arimo"/>
              <a:sym typeface="Arimo"/>
            </a:endParaRPr>
          </a:p>
          <a:p>
            <a:pPr marL="662981" lvl="1" indent="-331490" algn="l">
              <a:lnSpc>
                <a:spcPts val="3684"/>
              </a:lnSpc>
              <a:buFont typeface="Arial"/>
              <a:buChar char="•"/>
            </a:pPr>
            <a:r>
              <a:rPr lang="en-US" sz="3070">
                <a:solidFill>
                  <a:srgbClr val="FFFFFF"/>
                </a:solidFill>
                <a:latin typeface="Arimo"/>
                <a:ea typeface="Arimo"/>
                <a:cs typeface="Arimo"/>
                <a:sym typeface="Arimo"/>
              </a:rPr>
              <a:t>802.11n (WiFi 4): 2.4/5 GHz, 600 Mbps, dùng MIMO</a:t>
            </a:r>
          </a:p>
          <a:p>
            <a:pPr algn="l">
              <a:lnSpc>
                <a:spcPts val="3684"/>
              </a:lnSpc>
            </a:pPr>
            <a:endParaRPr lang="en-US" sz="3070">
              <a:solidFill>
                <a:srgbClr val="FFFFFF"/>
              </a:solidFill>
              <a:latin typeface="Arimo"/>
              <a:ea typeface="Arimo"/>
              <a:cs typeface="Arimo"/>
              <a:sym typeface="Arimo"/>
            </a:endParaRPr>
          </a:p>
          <a:p>
            <a:pPr marL="662981" lvl="1" indent="-331490" algn="l">
              <a:lnSpc>
                <a:spcPts val="3684"/>
              </a:lnSpc>
              <a:buFont typeface="Arial"/>
              <a:buChar char="•"/>
            </a:pPr>
            <a:r>
              <a:rPr lang="en-US" sz="3070">
                <a:solidFill>
                  <a:srgbClr val="FFFFFF"/>
                </a:solidFill>
                <a:latin typeface="Arimo"/>
                <a:ea typeface="Arimo"/>
                <a:cs typeface="Arimo"/>
                <a:sym typeface="Arimo"/>
              </a:rPr>
              <a:t>802.11ac (WiFi 5): 5 GHz, 3.5 Gbps, phù hợp ứng dụng băng thông cao</a:t>
            </a:r>
          </a:p>
          <a:p>
            <a:pPr algn="l">
              <a:lnSpc>
                <a:spcPts val="3684"/>
              </a:lnSpc>
            </a:pPr>
            <a:endParaRPr lang="en-US" sz="3070">
              <a:solidFill>
                <a:srgbClr val="FFFFFF"/>
              </a:solidFill>
              <a:latin typeface="Arimo"/>
              <a:ea typeface="Arimo"/>
              <a:cs typeface="Arimo"/>
              <a:sym typeface="Arimo"/>
            </a:endParaRPr>
          </a:p>
          <a:p>
            <a:pPr marL="662981" lvl="1" indent="-331490" algn="l">
              <a:lnSpc>
                <a:spcPts val="3684"/>
              </a:lnSpc>
              <a:buFont typeface="Arial"/>
              <a:buChar char="•"/>
            </a:pPr>
            <a:r>
              <a:rPr lang="en-US" sz="3070">
                <a:solidFill>
                  <a:srgbClr val="FFFFFF"/>
                </a:solidFill>
                <a:latin typeface="Arimo"/>
                <a:ea typeface="Arimo"/>
                <a:cs typeface="Arimo"/>
                <a:sym typeface="Arimo"/>
              </a:rPr>
              <a:t>802.11ax (WiFi 6): 2.4/5 GHz, 9.6 Gbps, tối ưu môi trường đông đúc (OFDMA, MU-MIMO)</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15234733" y="0"/>
            <a:ext cx="3044931" cy="1753992"/>
          </a:xfrm>
          <a:custGeom>
            <a:avLst/>
            <a:gdLst/>
            <a:ahLst/>
            <a:cxnLst/>
            <a:rect l="l" t="t" r="r" b="b"/>
            <a:pathLst>
              <a:path w="3044931" h="1753992">
                <a:moveTo>
                  <a:pt x="0" y="0"/>
                </a:moveTo>
                <a:lnTo>
                  <a:pt x="3044931" y="0"/>
                </a:lnTo>
                <a:lnTo>
                  <a:pt x="3044931" y="1753992"/>
                </a:lnTo>
                <a:lnTo>
                  <a:pt x="0" y="1753992"/>
                </a:lnTo>
                <a:lnTo>
                  <a:pt x="0" y="0"/>
                </a:lnTo>
                <a:close/>
              </a:path>
            </a:pathLst>
          </a:custGeom>
          <a:blipFill>
            <a:blip r:embed="rId2"/>
            <a:stretch>
              <a:fillRect/>
            </a:stretch>
          </a:blipFill>
        </p:spPr>
        <p:txBody>
          <a:bodyPr/>
          <a:lstStyle/>
          <a:p>
            <a:endParaRPr lang="en-US"/>
          </a:p>
        </p:txBody>
      </p:sp>
      <p:sp>
        <p:nvSpPr>
          <p:cNvPr id="3" name="Freeform 3"/>
          <p:cNvSpPr/>
          <p:nvPr/>
        </p:nvSpPr>
        <p:spPr>
          <a:xfrm>
            <a:off x="11202840" y="3232789"/>
            <a:ext cx="5701842" cy="5701842"/>
          </a:xfrm>
          <a:custGeom>
            <a:avLst/>
            <a:gdLst/>
            <a:ahLst/>
            <a:cxnLst/>
            <a:rect l="l" t="t" r="r" b="b"/>
            <a:pathLst>
              <a:path w="5701842" h="5701842">
                <a:moveTo>
                  <a:pt x="0" y="0"/>
                </a:moveTo>
                <a:lnTo>
                  <a:pt x="5701842" y="0"/>
                </a:lnTo>
                <a:lnTo>
                  <a:pt x="5701842" y="5701842"/>
                </a:lnTo>
                <a:lnTo>
                  <a:pt x="0" y="5701842"/>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1295898" y="3388135"/>
            <a:ext cx="8452056" cy="5362575"/>
          </a:xfrm>
          <a:prstGeom prst="rect">
            <a:avLst/>
          </a:prstGeom>
        </p:spPr>
        <p:txBody>
          <a:bodyPr lIns="0" tIns="0" rIns="0" bIns="0" rtlCol="0" anchor="t">
            <a:spAutoFit/>
          </a:bodyPr>
          <a:lstStyle/>
          <a:p>
            <a:pPr marL="755668" lvl="1" indent="-377834" algn="l">
              <a:lnSpc>
                <a:spcPts val="4200"/>
              </a:lnSpc>
              <a:buFont typeface="Arial"/>
              <a:buChar char="•"/>
            </a:pPr>
            <a:r>
              <a:rPr lang="en-US" sz="3500">
                <a:solidFill>
                  <a:srgbClr val="FFFFFF"/>
                </a:solidFill>
                <a:latin typeface="Arimo"/>
                <a:ea typeface="Arimo"/>
                <a:cs typeface="Arimo"/>
                <a:sym typeface="Arimo"/>
              </a:rPr>
              <a:t>Giao thức mã hóa:</a:t>
            </a:r>
          </a:p>
          <a:p>
            <a:pPr marL="1511337" lvl="2" indent="-503779" algn="l">
              <a:lnSpc>
                <a:spcPts val="4200"/>
              </a:lnSpc>
              <a:buFont typeface="Arial"/>
              <a:buChar char="⚬"/>
            </a:pPr>
            <a:r>
              <a:rPr lang="en-US" sz="3500">
                <a:solidFill>
                  <a:srgbClr val="FFFFFF"/>
                </a:solidFill>
                <a:latin typeface="Arimo"/>
                <a:ea typeface="Arimo"/>
                <a:cs typeface="Arimo"/>
                <a:sym typeface="Arimo"/>
              </a:rPr>
              <a:t>WPA2: AES, bảo mật cao, dùng cho SSID POS.</a:t>
            </a:r>
          </a:p>
          <a:p>
            <a:pPr marL="1511337" lvl="2" indent="-503779" algn="l">
              <a:lnSpc>
                <a:spcPts val="4200"/>
              </a:lnSpc>
              <a:buFont typeface="Arial"/>
              <a:buChar char="⚬"/>
            </a:pPr>
            <a:r>
              <a:rPr lang="en-US" sz="3500">
                <a:solidFill>
                  <a:srgbClr val="FFFFFF"/>
                </a:solidFill>
                <a:latin typeface="Arimo"/>
                <a:ea typeface="Arimo"/>
                <a:cs typeface="Arimo"/>
                <a:sym typeface="Arimo"/>
              </a:rPr>
              <a:t>WPA3: Mã hóa cá nhân hóa, khuyến nghị cho SSID Staff.</a:t>
            </a:r>
          </a:p>
          <a:p>
            <a:pPr marL="755668" lvl="1" indent="-377834" algn="l">
              <a:lnSpc>
                <a:spcPts val="4200"/>
              </a:lnSpc>
              <a:buFont typeface="Arial"/>
              <a:buChar char="•"/>
            </a:pPr>
            <a:r>
              <a:rPr lang="en-US" sz="3500">
                <a:solidFill>
                  <a:srgbClr val="FFFFFF"/>
                </a:solidFill>
                <a:latin typeface="Arimo"/>
                <a:ea typeface="Arimo"/>
                <a:cs typeface="Arimo"/>
                <a:sym typeface="Arimo"/>
              </a:rPr>
              <a:t>Xác thực:</a:t>
            </a:r>
          </a:p>
          <a:p>
            <a:pPr marL="1511337" lvl="2" indent="-503779" algn="l">
              <a:lnSpc>
                <a:spcPts val="4200"/>
              </a:lnSpc>
              <a:buFont typeface="Arial"/>
              <a:buChar char="⚬"/>
            </a:pPr>
            <a:r>
              <a:rPr lang="en-US" sz="3500">
                <a:solidFill>
                  <a:srgbClr val="FFFFFF"/>
                </a:solidFill>
                <a:latin typeface="Arimo"/>
                <a:ea typeface="Arimo"/>
                <a:cs typeface="Arimo"/>
                <a:sym typeface="Arimo"/>
              </a:rPr>
              <a:t>PSK: Dùng cho POS (mật khẩu chung).</a:t>
            </a:r>
          </a:p>
          <a:p>
            <a:pPr marL="1511337" lvl="2" indent="-503779" algn="l">
              <a:lnSpc>
                <a:spcPts val="4200"/>
              </a:lnSpc>
              <a:buFont typeface="Arial"/>
              <a:buChar char="⚬"/>
            </a:pPr>
            <a:r>
              <a:rPr lang="en-US" sz="3500">
                <a:solidFill>
                  <a:srgbClr val="FFFFFF"/>
                </a:solidFill>
                <a:latin typeface="Arimo"/>
                <a:ea typeface="Arimo"/>
                <a:cs typeface="Arimo"/>
                <a:sym typeface="Arimo"/>
              </a:rPr>
              <a:t>802.1X + RADIUS: Dùng cho Staff (xác thực qua server).</a:t>
            </a:r>
          </a:p>
        </p:txBody>
      </p:sp>
      <p:sp>
        <p:nvSpPr>
          <p:cNvPr id="5" name="TextBox 5"/>
          <p:cNvSpPr txBox="1"/>
          <p:nvPr/>
        </p:nvSpPr>
        <p:spPr>
          <a:xfrm>
            <a:off x="6018133" y="1039617"/>
            <a:ext cx="6251734" cy="714375"/>
          </a:xfrm>
          <a:prstGeom prst="rect">
            <a:avLst/>
          </a:prstGeom>
        </p:spPr>
        <p:txBody>
          <a:bodyPr lIns="0" tIns="0" rIns="0" bIns="0" rtlCol="0" anchor="t">
            <a:spAutoFit/>
          </a:bodyPr>
          <a:lstStyle/>
          <a:p>
            <a:pPr algn="ctr">
              <a:lnSpc>
                <a:spcPts val="5640"/>
              </a:lnSpc>
              <a:spcBef>
                <a:spcPct val="0"/>
              </a:spcBef>
            </a:pPr>
            <a:r>
              <a:rPr lang="en-US" sz="4700" b="1">
                <a:solidFill>
                  <a:srgbClr val="FFFFFF"/>
                </a:solidFill>
                <a:latin typeface="Poppins Medium Bold"/>
                <a:ea typeface="Poppins Medium Bold"/>
                <a:cs typeface="Poppins Medium Bold"/>
                <a:sym typeface="Poppins Medium Bold"/>
              </a:rPr>
              <a:t>BẢO MẬT MẠNG WIFI</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15234733" y="0"/>
            <a:ext cx="3044931" cy="1753992"/>
          </a:xfrm>
          <a:custGeom>
            <a:avLst/>
            <a:gdLst/>
            <a:ahLst/>
            <a:cxnLst/>
            <a:rect l="l" t="t" r="r" b="b"/>
            <a:pathLst>
              <a:path w="3044931" h="1753992">
                <a:moveTo>
                  <a:pt x="0" y="0"/>
                </a:moveTo>
                <a:lnTo>
                  <a:pt x="3044931" y="0"/>
                </a:lnTo>
                <a:lnTo>
                  <a:pt x="3044931" y="1753992"/>
                </a:lnTo>
                <a:lnTo>
                  <a:pt x="0" y="1753992"/>
                </a:lnTo>
                <a:lnTo>
                  <a:pt x="0" y="0"/>
                </a:lnTo>
                <a:close/>
              </a:path>
            </a:pathLst>
          </a:custGeom>
          <a:blipFill>
            <a:blip r:embed="rId2"/>
            <a:stretch>
              <a:fillRect/>
            </a:stretch>
          </a:blipFill>
        </p:spPr>
        <p:txBody>
          <a:bodyPr/>
          <a:lstStyle/>
          <a:p>
            <a:endParaRPr lang="en-US"/>
          </a:p>
        </p:txBody>
      </p:sp>
      <p:sp>
        <p:nvSpPr>
          <p:cNvPr id="3" name="Freeform 3"/>
          <p:cNvSpPr/>
          <p:nvPr/>
        </p:nvSpPr>
        <p:spPr>
          <a:xfrm>
            <a:off x="8528760" y="2682581"/>
            <a:ext cx="8730540" cy="5827635"/>
          </a:xfrm>
          <a:custGeom>
            <a:avLst/>
            <a:gdLst/>
            <a:ahLst/>
            <a:cxnLst/>
            <a:rect l="l" t="t" r="r" b="b"/>
            <a:pathLst>
              <a:path w="8730540" h="5827635">
                <a:moveTo>
                  <a:pt x="0" y="0"/>
                </a:moveTo>
                <a:lnTo>
                  <a:pt x="8730540" y="0"/>
                </a:lnTo>
                <a:lnTo>
                  <a:pt x="8730540" y="5827635"/>
                </a:lnTo>
                <a:lnTo>
                  <a:pt x="0" y="5827635"/>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1308911" y="3324686"/>
            <a:ext cx="5833206" cy="4147052"/>
          </a:xfrm>
          <a:prstGeom prst="rect">
            <a:avLst/>
          </a:prstGeom>
        </p:spPr>
        <p:txBody>
          <a:bodyPr lIns="0" tIns="0" rIns="0" bIns="0" rtlCol="0" anchor="t">
            <a:spAutoFit/>
          </a:bodyPr>
          <a:lstStyle/>
          <a:p>
            <a:pPr algn="l">
              <a:lnSpc>
                <a:spcPts val="5167"/>
              </a:lnSpc>
              <a:spcBef>
                <a:spcPct val="0"/>
              </a:spcBef>
            </a:pPr>
            <a:r>
              <a:rPr lang="en-US" sz="4306">
                <a:solidFill>
                  <a:srgbClr val="FFFFFF"/>
                </a:solidFill>
                <a:latin typeface="Arimo"/>
                <a:ea typeface="Arimo"/>
                <a:cs typeface="Arimo"/>
                <a:sym typeface="Arimo"/>
              </a:rPr>
              <a:t>Mesh WiFi</a:t>
            </a:r>
          </a:p>
          <a:p>
            <a:pPr algn="l">
              <a:lnSpc>
                <a:spcPts val="4288"/>
              </a:lnSpc>
              <a:spcBef>
                <a:spcPct val="0"/>
              </a:spcBef>
            </a:pPr>
            <a:r>
              <a:rPr lang="en-US" sz="3573">
                <a:solidFill>
                  <a:srgbClr val="FFFFFF"/>
                </a:solidFill>
                <a:latin typeface="Arimo"/>
                <a:ea typeface="Arimo"/>
                <a:cs typeface="Arimo"/>
                <a:sym typeface="Arimo"/>
              </a:rPr>
              <a:t>•Ưu điểm:</a:t>
            </a:r>
          </a:p>
          <a:p>
            <a:pPr algn="l">
              <a:lnSpc>
                <a:spcPts val="4288"/>
              </a:lnSpc>
              <a:spcBef>
                <a:spcPct val="0"/>
              </a:spcBef>
            </a:pPr>
            <a:r>
              <a:rPr lang="en-US" sz="3573">
                <a:solidFill>
                  <a:srgbClr val="FFFFFF"/>
                </a:solidFill>
                <a:latin typeface="Arimo"/>
                <a:ea typeface="Arimo"/>
                <a:cs typeface="Arimo"/>
                <a:sym typeface="Arimo"/>
              </a:rPr>
              <a:t>•Nhược điểm:</a:t>
            </a:r>
          </a:p>
          <a:p>
            <a:pPr algn="l">
              <a:lnSpc>
                <a:spcPts val="5167"/>
              </a:lnSpc>
              <a:spcBef>
                <a:spcPct val="0"/>
              </a:spcBef>
            </a:pPr>
            <a:endParaRPr lang="en-US" sz="3573">
              <a:solidFill>
                <a:srgbClr val="FFFFFF"/>
              </a:solidFill>
              <a:latin typeface="Arimo"/>
              <a:ea typeface="Arimo"/>
              <a:cs typeface="Arimo"/>
              <a:sym typeface="Arimo"/>
            </a:endParaRPr>
          </a:p>
          <a:p>
            <a:pPr algn="l">
              <a:lnSpc>
                <a:spcPts val="5167"/>
              </a:lnSpc>
              <a:spcBef>
                <a:spcPct val="0"/>
              </a:spcBef>
            </a:pPr>
            <a:r>
              <a:rPr lang="en-US" sz="4306">
                <a:solidFill>
                  <a:srgbClr val="FFFFFF"/>
                </a:solidFill>
                <a:latin typeface="Arimo"/>
                <a:ea typeface="Arimo"/>
                <a:cs typeface="Arimo"/>
                <a:sym typeface="Arimo"/>
              </a:rPr>
              <a:t>Range Extender</a:t>
            </a:r>
          </a:p>
          <a:p>
            <a:pPr algn="l">
              <a:lnSpc>
                <a:spcPts val="4288"/>
              </a:lnSpc>
              <a:spcBef>
                <a:spcPct val="0"/>
              </a:spcBef>
            </a:pPr>
            <a:r>
              <a:rPr lang="en-US" sz="3573">
                <a:solidFill>
                  <a:srgbClr val="FFFFFF"/>
                </a:solidFill>
                <a:latin typeface="Arimo"/>
                <a:ea typeface="Arimo"/>
                <a:cs typeface="Arimo"/>
                <a:sym typeface="Arimo"/>
              </a:rPr>
              <a:t>•Ưu điểm:</a:t>
            </a:r>
          </a:p>
          <a:p>
            <a:pPr algn="l">
              <a:lnSpc>
                <a:spcPts val="4288"/>
              </a:lnSpc>
              <a:spcBef>
                <a:spcPct val="0"/>
              </a:spcBef>
            </a:pPr>
            <a:r>
              <a:rPr lang="en-US" sz="3573">
                <a:solidFill>
                  <a:srgbClr val="FFFFFF"/>
                </a:solidFill>
                <a:latin typeface="Arimo"/>
                <a:ea typeface="Arimo"/>
                <a:cs typeface="Arimo"/>
                <a:sym typeface="Arimo"/>
              </a:rPr>
              <a:t>•Nhược điểm:</a:t>
            </a:r>
          </a:p>
        </p:txBody>
      </p:sp>
      <p:sp>
        <p:nvSpPr>
          <p:cNvPr id="5" name="TextBox 5"/>
          <p:cNvSpPr txBox="1"/>
          <p:nvPr/>
        </p:nvSpPr>
        <p:spPr>
          <a:xfrm>
            <a:off x="405374" y="829371"/>
            <a:ext cx="12133302" cy="762000"/>
          </a:xfrm>
          <a:prstGeom prst="rect">
            <a:avLst/>
          </a:prstGeom>
        </p:spPr>
        <p:txBody>
          <a:bodyPr lIns="0" tIns="0" rIns="0" bIns="0" rtlCol="0" anchor="t">
            <a:spAutoFit/>
          </a:bodyPr>
          <a:lstStyle/>
          <a:p>
            <a:pPr algn="ctr">
              <a:lnSpc>
                <a:spcPts val="5640"/>
              </a:lnSpc>
              <a:spcBef>
                <a:spcPct val="0"/>
              </a:spcBef>
            </a:pPr>
            <a:r>
              <a:rPr lang="en-US" sz="4700" b="1">
                <a:solidFill>
                  <a:srgbClr val="FFFFFF"/>
                </a:solidFill>
                <a:latin typeface="Poppins Bold"/>
                <a:ea typeface="Poppins Bold"/>
                <a:cs typeface="Poppins Bold"/>
                <a:sym typeface="Poppins Bold"/>
              </a:rPr>
              <a:t>MÔ HÌNH MESH WIFI VS RANGE EXTENDER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flipH="1">
            <a:off x="0" y="5758520"/>
            <a:ext cx="4024687" cy="4528480"/>
          </a:xfrm>
          <a:custGeom>
            <a:avLst/>
            <a:gdLst/>
            <a:ahLst/>
            <a:cxnLst/>
            <a:rect l="l" t="t" r="r" b="b"/>
            <a:pathLst>
              <a:path w="4024687" h="4528480">
                <a:moveTo>
                  <a:pt x="4024687" y="0"/>
                </a:moveTo>
                <a:lnTo>
                  <a:pt x="0" y="0"/>
                </a:lnTo>
                <a:lnTo>
                  <a:pt x="0" y="4528480"/>
                </a:lnTo>
                <a:lnTo>
                  <a:pt x="4024687" y="4528480"/>
                </a:lnTo>
                <a:lnTo>
                  <a:pt x="4024687" y="0"/>
                </a:lnTo>
                <a:close/>
              </a:path>
            </a:pathLst>
          </a:custGeom>
          <a:blipFill>
            <a:blip r:embed="rId2"/>
            <a:stretch>
              <a:fillRect/>
            </a:stretch>
          </a:blipFill>
        </p:spPr>
        <p:txBody>
          <a:bodyPr/>
          <a:lstStyle/>
          <a:p>
            <a:endParaRPr lang="en-US"/>
          </a:p>
        </p:txBody>
      </p:sp>
      <p:sp>
        <p:nvSpPr>
          <p:cNvPr id="3" name="AutoShape 3"/>
          <p:cNvSpPr/>
          <p:nvPr/>
        </p:nvSpPr>
        <p:spPr>
          <a:xfrm>
            <a:off x="5767947" y="5516450"/>
            <a:ext cx="6752107" cy="0"/>
          </a:xfrm>
          <a:prstGeom prst="line">
            <a:avLst/>
          </a:prstGeom>
          <a:ln w="19050" cap="rnd">
            <a:solidFill>
              <a:srgbClr val="10B5BF"/>
            </a:solidFill>
            <a:prstDash val="solid"/>
            <a:headEnd type="none" w="sm" len="sm"/>
            <a:tailEnd type="none" w="sm" len="sm"/>
          </a:ln>
        </p:spPr>
        <p:txBody>
          <a:bodyPr/>
          <a:lstStyle/>
          <a:p>
            <a:endParaRPr lang="en-US"/>
          </a:p>
        </p:txBody>
      </p:sp>
      <p:sp>
        <p:nvSpPr>
          <p:cNvPr id="4" name="TextBox 4"/>
          <p:cNvSpPr txBox="1"/>
          <p:nvPr/>
        </p:nvSpPr>
        <p:spPr>
          <a:xfrm>
            <a:off x="5767947" y="4802075"/>
            <a:ext cx="6752107" cy="714375"/>
          </a:xfrm>
          <a:prstGeom prst="rect">
            <a:avLst/>
          </a:prstGeom>
        </p:spPr>
        <p:txBody>
          <a:bodyPr lIns="0" tIns="0" rIns="0" bIns="0" rtlCol="0" anchor="t">
            <a:spAutoFit/>
          </a:bodyPr>
          <a:lstStyle/>
          <a:p>
            <a:pPr algn="ctr">
              <a:lnSpc>
                <a:spcPts val="5640"/>
              </a:lnSpc>
            </a:pPr>
            <a:r>
              <a:rPr lang="en-US" sz="4700" b="1">
                <a:solidFill>
                  <a:srgbClr val="FFFFFF"/>
                </a:solidFill>
                <a:latin typeface="Poppins Medium Bold"/>
                <a:ea typeface="Poppins Medium Bold"/>
                <a:cs typeface="Poppins Medium Bold"/>
                <a:sym typeface="Poppins Medium Bold"/>
              </a:rPr>
              <a:t>2.MÔ HÌNH HỆ THỐNG</a:t>
            </a:r>
          </a:p>
        </p:txBody>
      </p:sp>
      <p:sp>
        <p:nvSpPr>
          <p:cNvPr id="5" name="Freeform 5"/>
          <p:cNvSpPr/>
          <p:nvPr/>
        </p:nvSpPr>
        <p:spPr>
          <a:xfrm>
            <a:off x="15234733" y="0"/>
            <a:ext cx="3044931" cy="1753992"/>
          </a:xfrm>
          <a:custGeom>
            <a:avLst/>
            <a:gdLst/>
            <a:ahLst/>
            <a:cxnLst/>
            <a:rect l="l" t="t" r="r" b="b"/>
            <a:pathLst>
              <a:path w="3044931" h="1753992">
                <a:moveTo>
                  <a:pt x="0" y="0"/>
                </a:moveTo>
                <a:lnTo>
                  <a:pt x="3044931" y="0"/>
                </a:lnTo>
                <a:lnTo>
                  <a:pt x="3044931" y="1753992"/>
                </a:lnTo>
                <a:lnTo>
                  <a:pt x="0" y="1753992"/>
                </a:lnTo>
                <a:lnTo>
                  <a:pt x="0" y="0"/>
                </a:lnTo>
                <a:close/>
              </a:path>
            </a:pathLst>
          </a:custGeom>
          <a:blipFill>
            <a:blip r:embed="rId3"/>
            <a:stretch>
              <a:fillRect/>
            </a:stretch>
          </a:blipFill>
        </p:spPr>
        <p:txBody>
          <a:bodyPr/>
          <a:lstStyle/>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707891" y="2859644"/>
            <a:ext cx="11501433" cy="6157932"/>
          </a:xfrm>
          <a:custGeom>
            <a:avLst/>
            <a:gdLst/>
            <a:ahLst/>
            <a:cxnLst/>
            <a:rect l="l" t="t" r="r" b="b"/>
            <a:pathLst>
              <a:path w="11501433" h="6157932">
                <a:moveTo>
                  <a:pt x="0" y="0"/>
                </a:moveTo>
                <a:lnTo>
                  <a:pt x="11501434" y="0"/>
                </a:lnTo>
                <a:lnTo>
                  <a:pt x="11501434" y="6157931"/>
                </a:lnTo>
                <a:lnTo>
                  <a:pt x="0" y="6157931"/>
                </a:lnTo>
                <a:lnTo>
                  <a:pt x="0" y="0"/>
                </a:lnTo>
                <a:close/>
              </a:path>
            </a:pathLst>
          </a:custGeom>
          <a:blipFill>
            <a:blip r:embed="rId2"/>
            <a:stretch>
              <a:fillRect l="-6080" r="-1269"/>
            </a:stretch>
          </a:blipFill>
        </p:spPr>
        <p:txBody>
          <a:bodyPr/>
          <a:lstStyle/>
          <a:p>
            <a:endParaRPr lang="en-US"/>
          </a:p>
        </p:txBody>
      </p:sp>
      <p:sp>
        <p:nvSpPr>
          <p:cNvPr id="3" name="Freeform 3"/>
          <p:cNvSpPr/>
          <p:nvPr/>
        </p:nvSpPr>
        <p:spPr>
          <a:xfrm>
            <a:off x="15234733" y="0"/>
            <a:ext cx="3044931" cy="1753992"/>
          </a:xfrm>
          <a:custGeom>
            <a:avLst/>
            <a:gdLst/>
            <a:ahLst/>
            <a:cxnLst/>
            <a:rect l="l" t="t" r="r" b="b"/>
            <a:pathLst>
              <a:path w="3044931" h="1753992">
                <a:moveTo>
                  <a:pt x="0" y="0"/>
                </a:moveTo>
                <a:lnTo>
                  <a:pt x="3044931" y="0"/>
                </a:lnTo>
                <a:lnTo>
                  <a:pt x="3044931" y="1753992"/>
                </a:lnTo>
                <a:lnTo>
                  <a:pt x="0" y="1753992"/>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12676920" y="2909659"/>
            <a:ext cx="5115625" cy="6029325"/>
          </a:xfrm>
          <a:prstGeom prst="rect">
            <a:avLst/>
          </a:prstGeom>
        </p:spPr>
        <p:txBody>
          <a:bodyPr lIns="0" tIns="0" rIns="0" bIns="0" rtlCol="0" anchor="t">
            <a:spAutoFit/>
          </a:bodyPr>
          <a:lstStyle/>
          <a:p>
            <a:pPr marL="607871" lvl="1" indent="-303936" algn="l">
              <a:lnSpc>
                <a:spcPts val="3378"/>
              </a:lnSpc>
              <a:buFont typeface="Arial"/>
              <a:buChar char="•"/>
            </a:pPr>
            <a:r>
              <a:rPr lang="en-US" sz="2815">
                <a:solidFill>
                  <a:srgbClr val="FFFFFF"/>
                </a:solidFill>
                <a:latin typeface="Poppins Light"/>
                <a:ea typeface="Poppins Light"/>
                <a:cs typeface="Poppins Light"/>
                <a:sym typeface="Poppins Light"/>
              </a:rPr>
              <a:t>Thiết kế hệ thống mạng LAN và WiFi cho doanh nghiệp ABC, đảm bảo hiệu suất, linh hoạt, và an toàn.</a:t>
            </a:r>
          </a:p>
          <a:p>
            <a:pPr marL="607871" lvl="1" indent="-303936" algn="l">
              <a:lnSpc>
                <a:spcPts val="3378"/>
              </a:lnSpc>
              <a:buFont typeface="Arial"/>
              <a:buChar char="•"/>
            </a:pPr>
            <a:r>
              <a:rPr lang="en-US" sz="2815">
                <a:solidFill>
                  <a:srgbClr val="FFFFFF"/>
                </a:solidFill>
                <a:latin typeface="Poppins Light"/>
                <a:ea typeface="Poppins Light"/>
                <a:cs typeface="Poppins Light"/>
                <a:sym typeface="Poppins Light"/>
              </a:rPr>
              <a:t>Phân bổ địa chỉ IP, cấu hình VLAN, và kết nối VPN.</a:t>
            </a:r>
          </a:p>
          <a:p>
            <a:pPr marL="607871" lvl="1" indent="-303936" algn="l">
              <a:lnSpc>
                <a:spcPts val="3378"/>
              </a:lnSpc>
              <a:buFont typeface="Arial"/>
              <a:buChar char="•"/>
            </a:pPr>
            <a:r>
              <a:rPr lang="en-US" sz="2815">
                <a:solidFill>
                  <a:srgbClr val="FFFFFF"/>
                </a:solidFill>
                <a:latin typeface="Poppins Light"/>
                <a:ea typeface="Poppins Light"/>
                <a:cs typeface="Poppins Light"/>
                <a:sym typeface="Poppins Light"/>
              </a:rPr>
              <a:t>Bảo mật dữ liệu nhạy cảm (cơ sở dữ liệu, tài liệu nội bộ, hệ thống tài chính).</a:t>
            </a:r>
          </a:p>
          <a:p>
            <a:pPr marL="607871" lvl="1" indent="-303936" algn="l">
              <a:lnSpc>
                <a:spcPts val="3378"/>
              </a:lnSpc>
              <a:buFont typeface="Arial"/>
              <a:buChar char="•"/>
            </a:pPr>
            <a:r>
              <a:rPr lang="en-US" sz="2815">
                <a:solidFill>
                  <a:srgbClr val="FFFFFF"/>
                </a:solidFill>
                <a:latin typeface="Poppins Light"/>
                <a:ea typeface="Poppins Light"/>
                <a:cs typeface="Poppins Light"/>
                <a:sym typeface="Poppins Light"/>
              </a:rPr>
              <a:t>Thực hiện demo kiểm tra kết nối, bảo mật, và dự phòng..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707891" y="2859644"/>
            <a:ext cx="11501433" cy="6157932"/>
          </a:xfrm>
          <a:custGeom>
            <a:avLst/>
            <a:gdLst/>
            <a:ahLst/>
            <a:cxnLst/>
            <a:rect l="l" t="t" r="r" b="b"/>
            <a:pathLst>
              <a:path w="11501433" h="6157932">
                <a:moveTo>
                  <a:pt x="0" y="0"/>
                </a:moveTo>
                <a:lnTo>
                  <a:pt x="11501434" y="0"/>
                </a:lnTo>
                <a:lnTo>
                  <a:pt x="11501434" y="6157931"/>
                </a:lnTo>
                <a:lnTo>
                  <a:pt x="0" y="6157931"/>
                </a:lnTo>
                <a:lnTo>
                  <a:pt x="0" y="0"/>
                </a:lnTo>
                <a:close/>
              </a:path>
            </a:pathLst>
          </a:custGeom>
          <a:blipFill>
            <a:blip r:embed="rId2"/>
            <a:stretch>
              <a:fillRect l="-6080" r="-1269"/>
            </a:stretch>
          </a:blipFill>
        </p:spPr>
        <p:txBody>
          <a:bodyPr/>
          <a:lstStyle/>
          <a:p>
            <a:endParaRPr lang="en-US"/>
          </a:p>
        </p:txBody>
      </p:sp>
      <p:sp>
        <p:nvSpPr>
          <p:cNvPr id="3" name="Freeform 3"/>
          <p:cNvSpPr/>
          <p:nvPr/>
        </p:nvSpPr>
        <p:spPr>
          <a:xfrm>
            <a:off x="15234733" y="0"/>
            <a:ext cx="3044931" cy="1753992"/>
          </a:xfrm>
          <a:custGeom>
            <a:avLst/>
            <a:gdLst/>
            <a:ahLst/>
            <a:cxnLst/>
            <a:rect l="l" t="t" r="r" b="b"/>
            <a:pathLst>
              <a:path w="3044931" h="1753992">
                <a:moveTo>
                  <a:pt x="0" y="0"/>
                </a:moveTo>
                <a:lnTo>
                  <a:pt x="3044931" y="0"/>
                </a:lnTo>
                <a:lnTo>
                  <a:pt x="3044931" y="1753992"/>
                </a:lnTo>
                <a:lnTo>
                  <a:pt x="0" y="1753992"/>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12676920" y="3320931"/>
            <a:ext cx="5115625" cy="4743450"/>
          </a:xfrm>
          <a:prstGeom prst="rect">
            <a:avLst/>
          </a:prstGeom>
        </p:spPr>
        <p:txBody>
          <a:bodyPr lIns="0" tIns="0" rIns="0" bIns="0" rtlCol="0" anchor="t">
            <a:spAutoFit/>
          </a:bodyPr>
          <a:lstStyle/>
          <a:p>
            <a:pPr marL="607871" lvl="1" indent="-303936" algn="l">
              <a:lnSpc>
                <a:spcPts val="3378"/>
              </a:lnSpc>
              <a:buFont typeface="Arial"/>
              <a:buChar char="•"/>
            </a:pPr>
            <a:r>
              <a:rPr lang="en-US" sz="2815">
                <a:solidFill>
                  <a:srgbClr val="FFFFFF"/>
                </a:solidFill>
                <a:latin typeface="Poppins Light"/>
                <a:ea typeface="Poppins Light"/>
                <a:cs typeface="Poppins Light"/>
                <a:sym typeface="Poppins Light"/>
              </a:rPr>
              <a:t>Thông tin các thiết bị trong mô hình:</a:t>
            </a:r>
          </a:p>
          <a:p>
            <a:pPr marL="1215743" lvl="2" indent="-405248" algn="l">
              <a:lnSpc>
                <a:spcPts val="3378"/>
              </a:lnSpc>
              <a:buFont typeface="Arial"/>
              <a:buChar char="⚬"/>
            </a:pPr>
            <a:r>
              <a:rPr lang="en-US" sz="2815">
                <a:solidFill>
                  <a:srgbClr val="FFFFFF"/>
                </a:solidFill>
                <a:latin typeface="Poppins Light"/>
                <a:ea typeface="Poppins Light"/>
                <a:cs typeface="Poppins Light"/>
                <a:sym typeface="Poppins Light"/>
              </a:rPr>
              <a:t>PC : 5</a:t>
            </a:r>
          </a:p>
          <a:p>
            <a:pPr marL="1215743" lvl="2" indent="-405248" algn="l">
              <a:lnSpc>
                <a:spcPts val="3378"/>
              </a:lnSpc>
              <a:buFont typeface="Arial"/>
              <a:buChar char="⚬"/>
            </a:pPr>
            <a:r>
              <a:rPr lang="en-US" sz="2815">
                <a:solidFill>
                  <a:srgbClr val="FFFFFF"/>
                </a:solidFill>
                <a:latin typeface="Poppins Light"/>
                <a:ea typeface="Poppins Light"/>
                <a:cs typeface="Poppins Light"/>
                <a:sym typeface="Poppins Light"/>
              </a:rPr>
              <a:t>Laptop : 3</a:t>
            </a:r>
          </a:p>
          <a:p>
            <a:pPr marL="1215743" lvl="2" indent="-405248" algn="l">
              <a:lnSpc>
                <a:spcPts val="3378"/>
              </a:lnSpc>
              <a:buFont typeface="Arial"/>
              <a:buChar char="⚬"/>
            </a:pPr>
            <a:r>
              <a:rPr lang="en-US" sz="2815">
                <a:solidFill>
                  <a:srgbClr val="FFFFFF"/>
                </a:solidFill>
                <a:latin typeface="Poppins Light"/>
                <a:ea typeface="Poppins Light"/>
                <a:cs typeface="Poppins Light"/>
                <a:sym typeface="Poppins Light"/>
              </a:rPr>
              <a:t>Switch Layer 2 : 5</a:t>
            </a:r>
          </a:p>
          <a:p>
            <a:pPr marL="1215743" lvl="2" indent="-405248" algn="l">
              <a:lnSpc>
                <a:spcPts val="3378"/>
              </a:lnSpc>
              <a:buFont typeface="Arial"/>
              <a:buChar char="⚬"/>
            </a:pPr>
            <a:r>
              <a:rPr lang="en-US" sz="2815">
                <a:solidFill>
                  <a:srgbClr val="FFFFFF"/>
                </a:solidFill>
                <a:latin typeface="Poppins Light"/>
                <a:ea typeface="Poppins Light"/>
                <a:cs typeface="Poppins Light"/>
                <a:sym typeface="Poppins Light"/>
              </a:rPr>
              <a:t>Server : 1</a:t>
            </a:r>
          </a:p>
          <a:p>
            <a:pPr marL="1215743" lvl="2" indent="-405248" algn="l">
              <a:lnSpc>
                <a:spcPts val="3378"/>
              </a:lnSpc>
              <a:buFont typeface="Arial"/>
              <a:buChar char="⚬"/>
            </a:pPr>
            <a:r>
              <a:rPr lang="en-US" sz="2815">
                <a:solidFill>
                  <a:srgbClr val="FFFFFF"/>
                </a:solidFill>
                <a:latin typeface="Poppins Light"/>
                <a:ea typeface="Poppins Light"/>
                <a:cs typeface="Poppins Light"/>
                <a:sym typeface="Poppins Light"/>
              </a:rPr>
              <a:t>Router : 3</a:t>
            </a:r>
          </a:p>
          <a:p>
            <a:pPr marL="1215743" lvl="2" indent="-405248" algn="l">
              <a:lnSpc>
                <a:spcPts val="3378"/>
              </a:lnSpc>
              <a:buFont typeface="Arial"/>
              <a:buChar char="⚬"/>
            </a:pPr>
            <a:r>
              <a:rPr lang="en-US" sz="2815">
                <a:solidFill>
                  <a:srgbClr val="FFFFFF"/>
                </a:solidFill>
                <a:latin typeface="Poppins Light"/>
                <a:ea typeface="Poppins Light"/>
                <a:cs typeface="Poppins Light"/>
                <a:sym typeface="Poppins Light"/>
              </a:rPr>
              <a:t>Switch Layer 3 : 2</a:t>
            </a:r>
          </a:p>
          <a:p>
            <a:pPr marL="1215743" lvl="2" indent="-405248" algn="l">
              <a:lnSpc>
                <a:spcPts val="3378"/>
              </a:lnSpc>
              <a:buFont typeface="Arial"/>
              <a:buChar char="⚬"/>
            </a:pPr>
            <a:r>
              <a:rPr lang="en-US" sz="2815">
                <a:solidFill>
                  <a:srgbClr val="FFFFFF"/>
                </a:solidFill>
                <a:latin typeface="Poppins Light"/>
                <a:ea typeface="Poppins Light"/>
                <a:cs typeface="Poppins Light"/>
                <a:sym typeface="Poppins Light"/>
              </a:rPr>
              <a:t>WLC : 1</a:t>
            </a:r>
          </a:p>
          <a:p>
            <a:pPr marL="1215743" lvl="2" indent="-405248" algn="l">
              <a:lnSpc>
                <a:spcPts val="3378"/>
              </a:lnSpc>
              <a:buFont typeface="Arial"/>
              <a:buChar char="⚬"/>
            </a:pPr>
            <a:r>
              <a:rPr lang="en-US" sz="2815">
                <a:solidFill>
                  <a:srgbClr val="FFFFFF"/>
                </a:solidFill>
                <a:latin typeface="Poppins Light"/>
                <a:ea typeface="Poppins Light"/>
                <a:cs typeface="Poppins Light"/>
                <a:sym typeface="Poppins Light"/>
              </a:rPr>
              <a:t>LAP : 3</a:t>
            </a:r>
          </a:p>
          <a:p>
            <a:pPr marL="1215743" lvl="2" indent="-405248" algn="l">
              <a:lnSpc>
                <a:spcPts val="3378"/>
              </a:lnSpc>
              <a:buFont typeface="Arial"/>
              <a:buChar char="⚬"/>
            </a:pPr>
            <a:r>
              <a:rPr lang="en-US" sz="2815">
                <a:solidFill>
                  <a:srgbClr val="FFFFFF"/>
                </a:solidFill>
                <a:latin typeface="Poppins Light"/>
                <a:ea typeface="Poppins Light"/>
                <a:cs typeface="Poppins Light"/>
                <a:sym typeface="Poppins Light"/>
              </a:rPr>
              <a:t>Camera: 3</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txBody>
          <a:bodyPr/>
          <a:lstStyle/>
          <a:p>
            <a:endParaRPr lang="en-US"/>
          </a:p>
        </p:txBody>
      </p:sp>
      <p:sp>
        <p:nvSpPr>
          <p:cNvPr id="3" name="TextBox 3"/>
          <p:cNvSpPr txBox="1"/>
          <p:nvPr/>
        </p:nvSpPr>
        <p:spPr>
          <a:xfrm>
            <a:off x="1191530" y="4562475"/>
            <a:ext cx="15904940" cy="1152525"/>
          </a:xfrm>
          <a:prstGeom prst="rect">
            <a:avLst/>
          </a:prstGeom>
        </p:spPr>
        <p:txBody>
          <a:bodyPr lIns="0" tIns="0" rIns="0" bIns="0" rtlCol="0" anchor="t">
            <a:spAutoFit/>
          </a:bodyPr>
          <a:lstStyle/>
          <a:p>
            <a:pPr algn="l">
              <a:lnSpc>
                <a:spcPts val="9000"/>
              </a:lnSpc>
            </a:pPr>
            <a:r>
              <a:rPr lang="en-US" sz="7500" b="1">
                <a:solidFill>
                  <a:srgbClr val="FFFFFF"/>
                </a:solidFill>
                <a:latin typeface="Poppins Medium Bold"/>
                <a:ea typeface="Poppins Medium Bold"/>
                <a:cs typeface="Poppins Medium Bold"/>
                <a:sym typeface="Poppins Medium Bold"/>
              </a:rPr>
              <a:t>3. THÔNG TIN CÀI ĐẶT HỆ THỐNG</a:t>
            </a:r>
          </a:p>
        </p:txBody>
      </p:sp>
      <p:sp>
        <p:nvSpPr>
          <p:cNvPr id="4" name="Freeform 4"/>
          <p:cNvSpPr/>
          <p:nvPr/>
        </p:nvSpPr>
        <p:spPr>
          <a:xfrm>
            <a:off x="15234733" y="0"/>
            <a:ext cx="3044931" cy="1753992"/>
          </a:xfrm>
          <a:custGeom>
            <a:avLst/>
            <a:gdLst/>
            <a:ahLst/>
            <a:cxnLst/>
            <a:rect l="l" t="t" r="r" b="b"/>
            <a:pathLst>
              <a:path w="3044931" h="1753992">
                <a:moveTo>
                  <a:pt x="0" y="0"/>
                </a:moveTo>
                <a:lnTo>
                  <a:pt x="3044931" y="0"/>
                </a:lnTo>
                <a:lnTo>
                  <a:pt x="3044931" y="1753992"/>
                </a:lnTo>
                <a:lnTo>
                  <a:pt x="0" y="1753992"/>
                </a:lnTo>
                <a:lnTo>
                  <a:pt x="0" y="0"/>
                </a:lnTo>
                <a:close/>
              </a:path>
            </a:pathLst>
          </a:custGeom>
          <a:blipFill>
            <a:blip r:embed="rId3"/>
            <a:stretch>
              <a:fillRect/>
            </a:stretch>
          </a:blipFill>
        </p:spPr>
        <p:txBody>
          <a:bodyPr/>
          <a:lstStyle/>
          <a:p>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1492166" y="4822208"/>
          <a:ext cx="15303668" cy="2872003"/>
        </p:xfrm>
        <a:graphic>
          <a:graphicData uri="http://schemas.openxmlformats.org/drawingml/2006/table">
            <a:tbl>
              <a:tblPr/>
              <a:tblGrid>
                <a:gridCol w="2981746">
                  <a:extLst>
                    <a:ext uri="{9D8B030D-6E8A-4147-A177-3AD203B41FA5}">
                      <a16:colId xmlns:a16="http://schemas.microsoft.com/office/drawing/2014/main" val="20000"/>
                    </a:ext>
                  </a:extLst>
                </a:gridCol>
                <a:gridCol w="2724338">
                  <a:extLst>
                    <a:ext uri="{9D8B030D-6E8A-4147-A177-3AD203B41FA5}">
                      <a16:colId xmlns:a16="http://schemas.microsoft.com/office/drawing/2014/main" val="20001"/>
                    </a:ext>
                  </a:extLst>
                </a:gridCol>
                <a:gridCol w="3089908">
                  <a:extLst>
                    <a:ext uri="{9D8B030D-6E8A-4147-A177-3AD203B41FA5}">
                      <a16:colId xmlns:a16="http://schemas.microsoft.com/office/drawing/2014/main" val="20002"/>
                    </a:ext>
                  </a:extLst>
                </a:gridCol>
                <a:gridCol w="3058335">
                  <a:extLst>
                    <a:ext uri="{9D8B030D-6E8A-4147-A177-3AD203B41FA5}">
                      <a16:colId xmlns:a16="http://schemas.microsoft.com/office/drawing/2014/main" val="20003"/>
                    </a:ext>
                  </a:extLst>
                </a:gridCol>
                <a:gridCol w="3449341">
                  <a:extLst>
                    <a:ext uri="{9D8B030D-6E8A-4147-A177-3AD203B41FA5}">
                      <a16:colId xmlns:a16="http://schemas.microsoft.com/office/drawing/2014/main" val="20004"/>
                    </a:ext>
                  </a:extLst>
                </a:gridCol>
              </a:tblGrid>
              <a:tr h="1341018">
                <a:tc>
                  <a:txBody>
                    <a:bodyPr/>
                    <a:lstStyle/>
                    <a:p>
                      <a:pPr algn="ctr">
                        <a:lnSpc>
                          <a:spcPts val="3600"/>
                        </a:lnSpc>
                        <a:defRPr/>
                      </a:pPr>
                      <a:r>
                        <a:rPr lang="en-US" sz="3000">
                          <a:solidFill>
                            <a:srgbClr val="FFFFFF"/>
                          </a:solidFill>
                          <a:latin typeface="Poppins Light"/>
                          <a:ea typeface="Poppins Light"/>
                          <a:cs typeface="Poppins Light"/>
                          <a:sym typeface="Poppins Light"/>
                        </a:rPr>
                        <a:t>VLAN 10</a:t>
                      </a:r>
                      <a:endParaRPr lang="en-US" sz="1100"/>
                    </a:p>
                  </a:txBody>
                  <a:tcPr marL="0" marR="0" marT="0" marB="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9050" cap="flat" cmpd="sng" algn="ctr">
                      <a:solidFill>
                        <a:srgbClr val="10B5BF"/>
                      </a:solidFill>
                      <a:prstDash val="solid"/>
                      <a:round/>
                      <a:headEnd type="none" w="med" len="med"/>
                      <a:tailEnd type="none" w="med" len="med"/>
                    </a:lnB>
                  </a:tcPr>
                </a:tc>
                <a:tc>
                  <a:txBody>
                    <a:bodyPr/>
                    <a:lstStyle/>
                    <a:p>
                      <a:pPr algn="ctr">
                        <a:lnSpc>
                          <a:spcPts val="4199"/>
                        </a:lnSpc>
                        <a:defRPr/>
                      </a:pPr>
                      <a:r>
                        <a:rPr lang="en-US" sz="2999">
                          <a:solidFill>
                            <a:srgbClr val="FFFFFF"/>
                          </a:solidFill>
                          <a:latin typeface="Poppins Light"/>
                          <a:ea typeface="Poppins Light"/>
                          <a:cs typeface="Poppins Light"/>
                          <a:sym typeface="Poppins Light"/>
                        </a:rPr>
                        <a:t>VLAN 20</a:t>
                      </a:r>
                      <a:endParaRPr lang="en-US" sz="1100"/>
                    </a:p>
                  </a:txBody>
                  <a:tcPr marL="0" marR="0" marT="0" marB="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tcPr>
                </a:tc>
                <a:tc>
                  <a:txBody>
                    <a:bodyPr/>
                    <a:lstStyle/>
                    <a:p>
                      <a:pPr algn="ctr">
                        <a:lnSpc>
                          <a:spcPts val="3600"/>
                        </a:lnSpc>
                        <a:defRPr/>
                      </a:pPr>
                      <a:r>
                        <a:rPr lang="en-US" sz="3000">
                          <a:solidFill>
                            <a:srgbClr val="FFFFFF"/>
                          </a:solidFill>
                          <a:latin typeface="Poppins Light"/>
                          <a:ea typeface="Poppins Light"/>
                          <a:cs typeface="Poppins Light"/>
                          <a:sym typeface="Poppins Light"/>
                        </a:rPr>
                        <a:t>VLAN 30</a:t>
                      </a:r>
                      <a:endParaRPr lang="en-US" sz="1100"/>
                    </a:p>
                  </a:txBody>
                  <a:tcPr marL="0" marR="0" marT="0" marB="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9050" cap="flat" cmpd="sng" algn="ctr">
                      <a:solidFill>
                        <a:srgbClr val="10B5BF"/>
                      </a:solidFill>
                      <a:prstDash val="solid"/>
                      <a:round/>
                      <a:headEnd type="none" w="med" len="med"/>
                      <a:tailEnd type="none" w="med" len="med"/>
                    </a:lnB>
                  </a:tcPr>
                </a:tc>
                <a:tc>
                  <a:txBody>
                    <a:bodyPr/>
                    <a:lstStyle/>
                    <a:p>
                      <a:pPr algn="ctr">
                        <a:lnSpc>
                          <a:spcPts val="3600"/>
                        </a:lnSpc>
                        <a:defRPr/>
                      </a:pPr>
                      <a:r>
                        <a:rPr lang="en-US" sz="3000">
                          <a:solidFill>
                            <a:srgbClr val="FFFFFF"/>
                          </a:solidFill>
                          <a:latin typeface="Poppins Light"/>
                          <a:ea typeface="Poppins Light"/>
                          <a:cs typeface="Poppins Light"/>
                          <a:sym typeface="Poppins Light"/>
                        </a:rPr>
                        <a:t>VLAN 40</a:t>
                      </a:r>
                      <a:endParaRPr lang="en-US" sz="1100"/>
                    </a:p>
                  </a:txBody>
                  <a:tcPr marL="0" marR="0" marT="0" marB="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tcPr>
                </a:tc>
                <a:tc>
                  <a:txBody>
                    <a:bodyPr/>
                    <a:lstStyle/>
                    <a:p>
                      <a:pPr algn="ctr">
                        <a:lnSpc>
                          <a:spcPts val="3600"/>
                        </a:lnSpc>
                        <a:defRPr/>
                      </a:pPr>
                      <a:r>
                        <a:rPr lang="en-US" sz="3000">
                          <a:solidFill>
                            <a:srgbClr val="FFFFFF"/>
                          </a:solidFill>
                          <a:latin typeface="Poppins Light"/>
                          <a:ea typeface="Poppins Light"/>
                          <a:cs typeface="Poppins Light"/>
                          <a:sym typeface="Poppins Light"/>
                        </a:rPr>
                        <a:t>VLAN 1</a:t>
                      </a:r>
                      <a:endParaRPr lang="en-US" sz="1100"/>
                    </a:p>
                  </a:txBody>
                  <a:tcPr marL="0" marR="0" marT="0" marB="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9050" cap="flat" cmpd="sng" algn="ctr">
                      <a:solidFill>
                        <a:srgbClr val="10B5BF"/>
                      </a:solidFill>
                      <a:prstDash val="solid"/>
                      <a:round/>
                      <a:headEnd type="none" w="med" len="med"/>
                      <a:tailEnd type="none" w="med" len="med"/>
                    </a:lnB>
                  </a:tcPr>
                </a:tc>
                <a:extLst>
                  <a:ext uri="{0D108BD9-81ED-4DB2-BD59-A6C34878D82A}">
                    <a16:rowId xmlns:a16="http://schemas.microsoft.com/office/drawing/2014/main" val="10000"/>
                  </a:ext>
                </a:extLst>
              </a:tr>
              <a:tr h="1530985">
                <a:tc>
                  <a:txBody>
                    <a:bodyPr/>
                    <a:lstStyle/>
                    <a:p>
                      <a:pPr algn="ctr">
                        <a:lnSpc>
                          <a:spcPts val="5319"/>
                        </a:lnSpc>
                        <a:defRPr/>
                      </a:pPr>
                      <a:r>
                        <a:rPr lang="en-US" sz="3799">
                          <a:solidFill>
                            <a:srgbClr val="FFFFFF"/>
                          </a:solidFill>
                          <a:latin typeface="Poppins Light"/>
                          <a:ea typeface="Poppins Light"/>
                          <a:cs typeface="Poppins Light"/>
                          <a:sym typeface="Poppins Light"/>
                        </a:rPr>
                        <a:t>STAFF</a:t>
                      </a:r>
                      <a:endParaRPr lang="en-US" sz="1100"/>
                    </a:p>
                  </a:txBody>
                  <a:tcPr marL="0" marR="0" marT="0" marB="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9050" cap="flat" cmpd="sng" algn="ctr">
                      <a:solidFill>
                        <a:srgbClr val="10B5BF"/>
                      </a:solidFill>
                      <a:prstDash val="solid"/>
                      <a:round/>
                      <a:headEnd type="none" w="med" len="med"/>
                      <a:tailEnd type="none" w="med" len="med"/>
                    </a:lnT>
                    <a:lnB w="0" cap="flat" cmpd="sng" algn="ctr">
                      <a:solidFill>
                        <a:srgbClr val="FFFFFF"/>
                      </a:solidFill>
                      <a:prstDash val="solid"/>
                      <a:round/>
                      <a:headEnd type="none" w="med" len="med"/>
                      <a:tailEnd type="none" w="med" len="med"/>
                    </a:lnB>
                  </a:tcPr>
                </a:tc>
                <a:tc>
                  <a:txBody>
                    <a:bodyPr/>
                    <a:lstStyle/>
                    <a:p>
                      <a:pPr algn="ctr">
                        <a:lnSpc>
                          <a:spcPts val="5319"/>
                        </a:lnSpc>
                        <a:defRPr/>
                      </a:pPr>
                      <a:r>
                        <a:rPr lang="en-US" sz="3799">
                          <a:solidFill>
                            <a:srgbClr val="FFFFFF"/>
                          </a:solidFill>
                          <a:latin typeface="Poppins Light"/>
                          <a:ea typeface="Poppins Light"/>
                          <a:cs typeface="Poppins Light"/>
                          <a:sym typeface="Poppins Light"/>
                        </a:rPr>
                        <a:t>POS</a:t>
                      </a:r>
                      <a:endParaRPr lang="en-US" sz="1100"/>
                    </a:p>
                  </a:txBody>
                  <a:tcPr marL="0" marR="0" marT="0" marB="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tcPr>
                </a:tc>
                <a:tc>
                  <a:txBody>
                    <a:bodyPr/>
                    <a:lstStyle/>
                    <a:p>
                      <a:pPr algn="ctr">
                        <a:lnSpc>
                          <a:spcPts val="5319"/>
                        </a:lnSpc>
                        <a:defRPr/>
                      </a:pPr>
                      <a:r>
                        <a:rPr lang="en-US" sz="3799">
                          <a:solidFill>
                            <a:srgbClr val="FFFFFF"/>
                          </a:solidFill>
                          <a:latin typeface="Poppins Light"/>
                          <a:ea typeface="Poppins Light"/>
                          <a:cs typeface="Poppins Light"/>
                          <a:sym typeface="Poppins Light"/>
                        </a:rPr>
                        <a:t>GUEST</a:t>
                      </a:r>
                      <a:endParaRPr lang="en-US" sz="1100"/>
                    </a:p>
                  </a:txBody>
                  <a:tcPr marL="0" marR="0" marT="0" marB="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9050" cap="flat" cmpd="sng" algn="ctr">
                      <a:solidFill>
                        <a:srgbClr val="10B5BF"/>
                      </a:solidFill>
                      <a:prstDash val="solid"/>
                      <a:round/>
                      <a:headEnd type="none" w="med" len="med"/>
                      <a:tailEnd type="none" w="med" len="med"/>
                    </a:lnT>
                    <a:lnB w="0" cap="flat" cmpd="sng" algn="ctr">
                      <a:solidFill>
                        <a:srgbClr val="FFFFFF"/>
                      </a:solidFill>
                      <a:prstDash val="solid"/>
                      <a:round/>
                      <a:headEnd type="none" w="med" len="med"/>
                      <a:tailEnd type="none" w="med" len="med"/>
                    </a:lnB>
                  </a:tcPr>
                </a:tc>
                <a:tc>
                  <a:txBody>
                    <a:bodyPr/>
                    <a:lstStyle/>
                    <a:p>
                      <a:pPr algn="ctr">
                        <a:lnSpc>
                          <a:spcPts val="5319"/>
                        </a:lnSpc>
                        <a:defRPr/>
                      </a:pPr>
                      <a:r>
                        <a:rPr lang="en-US" sz="3799">
                          <a:solidFill>
                            <a:srgbClr val="FFFFFF"/>
                          </a:solidFill>
                          <a:latin typeface="Poppins Light"/>
                          <a:ea typeface="Poppins Light"/>
                          <a:cs typeface="Poppins Light"/>
                          <a:sym typeface="Poppins Light"/>
                        </a:rPr>
                        <a:t>SERVER</a:t>
                      </a:r>
                      <a:endParaRPr lang="en-US" sz="1100"/>
                    </a:p>
                  </a:txBody>
                  <a:tcPr marL="0" marR="0" marT="0" marB="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tcPr>
                </a:tc>
                <a:tc>
                  <a:txBody>
                    <a:bodyPr/>
                    <a:lstStyle/>
                    <a:p>
                      <a:pPr algn="ctr">
                        <a:lnSpc>
                          <a:spcPts val="5319"/>
                        </a:lnSpc>
                        <a:defRPr/>
                      </a:pPr>
                      <a:r>
                        <a:rPr lang="en-US" sz="3799">
                          <a:solidFill>
                            <a:srgbClr val="FFFFFF"/>
                          </a:solidFill>
                          <a:latin typeface="Poppins Light"/>
                          <a:ea typeface="Poppins Light"/>
                          <a:cs typeface="Poppins Light"/>
                          <a:sym typeface="Poppins Light"/>
                        </a:rPr>
                        <a:t>MANAGEMENT</a:t>
                      </a:r>
                      <a:endParaRPr lang="en-US" sz="1100"/>
                    </a:p>
                  </a:txBody>
                  <a:tcPr marL="0" marR="0" marT="0" marB="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9050" cap="flat" cmpd="sng" algn="ctr">
                      <a:solidFill>
                        <a:srgbClr val="10B5BF"/>
                      </a:solidFill>
                      <a:prstDash val="solid"/>
                      <a:round/>
                      <a:headEnd type="none" w="med" len="med"/>
                      <a:tailEnd type="none" w="med" len="med"/>
                    </a:lnT>
                    <a:lnB w="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3" name="TextBox 3"/>
          <p:cNvSpPr txBox="1"/>
          <p:nvPr/>
        </p:nvSpPr>
        <p:spPr>
          <a:xfrm>
            <a:off x="1246963" y="2631458"/>
            <a:ext cx="15794075" cy="1619250"/>
          </a:xfrm>
          <a:prstGeom prst="rect">
            <a:avLst/>
          </a:prstGeom>
        </p:spPr>
        <p:txBody>
          <a:bodyPr lIns="0" tIns="0" rIns="0" bIns="0" rtlCol="0" anchor="t">
            <a:spAutoFit/>
          </a:bodyPr>
          <a:lstStyle/>
          <a:p>
            <a:pPr algn="l">
              <a:lnSpc>
                <a:spcPts val="6600"/>
              </a:lnSpc>
            </a:pPr>
            <a:r>
              <a:rPr lang="en-US" sz="5500" b="1">
                <a:solidFill>
                  <a:srgbClr val="FFFFFF"/>
                </a:solidFill>
                <a:latin typeface="Poppins Medium Bold"/>
                <a:ea typeface="Poppins Medium Bold"/>
                <a:cs typeface="Poppins Medium Bold"/>
                <a:sym typeface="Poppins Medium Bold"/>
              </a:rPr>
              <a:t>HỆ THỐNG CÓ 5 VLAN CHO NHỮNG BỘ PHẬN </a:t>
            </a:r>
          </a:p>
          <a:p>
            <a:pPr algn="l">
              <a:lnSpc>
                <a:spcPts val="6120"/>
              </a:lnSpc>
            </a:pPr>
            <a:endParaRPr lang="en-US" sz="5500" b="1">
              <a:solidFill>
                <a:srgbClr val="FFFFFF"/>
              </a:solidFill>
              <a:latin typeface="Poppins Medium Bold"/>
              <a:ea typeface="Poppins Medium Bold"/>
              <a:cs typeface="Poppins Medium Bold"/>
              <a:sym typeface="Poppins Medium Bold"/>
            </a:endParaRPr>
          </a:p>
        </p:txBody>
      </p:sp>
      <p:sp>
        <p:nvSpPr>
          <p:cNvPr id="4" name="Freeform 4"/>
          <p:cNvSpPr/>
          <p:nvPr/>
        </p:nvSpPr>
        <p:spPr>
          <a:xfrm>
            <a:off x="15234733" y="0"/>
            <a:ext cx="3044931" cy="1753992"/>
          </a:xfrm>
          <a:custGeom>
            <a:avLst/>
            <a:gdLst/>
            <a:ahLst/>
            <a:cxnLst/>
            <a:rect l="l" t="t" r="r" b="b"/>
            <a:pathLst>
              <a:path w="3044931" h="1753992">
                <a:moveTo>
                  <a:pt x="0" y="0"/>
                </a:moveTo>
                <a:lnTo>
                  <a:pt x="3044931" y="0"/>
                </a:lnTo>
                <a:lnTo>
                  <a:pt x="3044931" y="1753992"/>
                </a:lnTo>
                <a:lnTo>
                  <a:pt x="0" y="1753992"/>
                </a:lnTo>
                <a:lnTo>
                  <a:pt x="0" y="0"/>
                </a:lnTo>
                <a:close/>
              </a:path>
            </a:pathLst>
          </a:custGeom>
          <a:blipFill>
            <a:blip r:embed="rId2"/>
            <a:stretch>
              <a:fillRect/>
            </a:stretch>
          </a:blipFill>
        </p:spPr>
        <p:txBody>
          <a:bodyPr/>
          <a:lstStyle/>
          <a:p>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15234733" y="0"/>
            <a:ext cx="3044931" cy="1753992"/>
          </a:xfrm>
          <a:custGeom>
            <a:avLst/>
            <a:gdLst/>
            <a:ahLst/>
            <a:cxnLst/>
            <a:rect l="l" t="t" r="r" b="b"/>
            <a:pathLst>
              <a:path w="3044931" h="1753992">
                <a:moveTo>
                  <a:pt x="0" y="0"/>
                </a:moveTo>
                <a:lnTo>
                  <a:pt x="3044931" y="0"/>
                </a:lnTo>
                <a:lnTo>
                  <a:pt x="3044931" y="1753992"/>
                </a:lnTo>
                <a:lnTo>
                  <a:pt x="0" y="1753992"/>
                </a:lnTo>
                <a:lnTo>
                  <a:pt x="0" y="0"/>
                </a:lnTo>
                <a:close/>
              </a:path>
            </a:pathLst>
          </a:custGeom>
          <a:blipFill>
            <a:blip r:embed="rId2"/>
            <a:stretch>
              <a:fillRect/>
            </a:stretch>
          </a:blipFill>
        </p:spPr>
        <p:txBody>
          <a:bodyPr/>
          <a:lstStyle/>
          <a:p>
            <a:endParaRPr lang="en-US"/>
          </a:p>
        </p:txBody>
      </p:sp>
      <p:sp>
        <p:nvSpPr>
          <p:cNvPr id="4" name="TextBox 4"/>
          <p:cNvSpPr txBox="1"/>
          <p:nvPr/>
        </p:nvSpPr>
        <p:spPr>
          <a:xfrm>
            <a:off x="7959706" y="1263455"/>
            <a:ext cx="2368588" cy="981075"/>
          </a:xfrm>
          <a:prstGeom prst="rect">
            <a:avLst/>
          </a:prstGeom>
        </p:spPr>
        <p:txBody>
          <a:bodyPr lIns="0" tIns="0" rIns="0" bIns="0" rtlCol="0" anchor="t">
            <a:spAutoFit/>
          </a:bodyPr>
          <a:lstStyle/>
          <a:p>
            <a:pPr algn="ctr">
              <a:lnSpc>
                <a:spcPts val="7764"/>
              </a:lnSpc>
              <a:spcBef>
                <a:spcPct val="0"/>
              </a:spcBef>
            </a:pPr>
            <a:r>
              <a:rPr lang="en-US" sz="6470" b="1">
                <a:solidFill>
                  <a:srgbClr val="FFFFFF"/>
                </a:solidFill>
                <a:latin typeface="Poppins Medium Bold"/>
                <a:ea typeface="Poppins Medium Bold"/>
                <a:cs typeface="Poppins Medium Bold"/>
                <a:sym typeface="Poppins Medium Bold"/>
              </a:rPr>
              <a:t>VLAN</a:t>
            </a:r>
          </a:p>
        </p:txBody>
      </p:sp>
      <p:pic>
        <p:nvPicPr>
          <p:cNvPr id="6" name="Picture 5">
            <a:extLst>
              <a:ext uri="{FF2B5EF4-FFF2-40B4-BE49-F238E27FC236}">
                <a16:creationId xmlns:a16="http://schemas.microsoft.com/office/drawing/2014/main" id="{B144462F-AC39-B821-04AE-4025B91DCFEF}"/>
              </a:ext>
            </a:extLst>
          </p:cNvPr>
          <p:cNvPicPr>
            <a:picLocks noChangeAspect="1"/>
          </p:cNvPicPr>
          <p:nvPr/>
        </p:nvPicPr>
        <p:blipFill>
          <a:blip r:embed="rId3"/>
          <a:stretch>
            <a:fillRect/>
          </a:stretch>
        </p:blipFill>
        <p:spPr>
          <a:xfrm>
            <a:off x="2969807" y="2628900"/>
            <a:ext cx="12348385" cy="6019227"/>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AutoShape 2"/>
          <p:cNvSpPr/>
          <p:nvPr/>
        </p:nvSpPr>
        <p:spPr>
          <a:xfrm rot="-5400000">
            <a:off x="5324805" y="5133975"/>
            <a:ext cx="7638389" cy="0"/>
          </a:xfrm>
          <a:prstGeom prst="line">
            <a:avLst/>
          </a:prstGeom>
          <a:ln w="19050" cap="rnd">
            <a:solidFill>
              <a:srgbClr val="10B5BF"/>
            </a:solidFill>
            <a:prstDash val="solid"/>
            <a:headEnd type="none" w="sm" len="sm"/>
            <a:tailEnd type="none" w="sm" len="sm"/>
          </a:ln>
        </p:spPr>
        <p:txBody>
          <a:bodyPr/>
          <a:lstStyle/>
          <a:p>
            <a:endParaRPr lang="en-US"/>
          </a:p>
        </p:txBody>
      </p:sp>
      <p:graphicFrame>
        <p:nvGraphicFramePr>
          <p:cNvPr id="3" name="Table 3"/>
          <p:cNvGraphicFramePr>
            <a:graphicFrameLocks noGrp="1"/>
          </p:cNvGraphicFramePr>
          <p:nvPr>
            <p:extLst>
              <p:ext uri="{D42A27DB-BD31-4B8C-83A1-F6EECF244321}">
                <p14:modId xmlns:p14="http://schemas.microsoft.com/office/powerpoint/2010/main" val="3247342684"/>
              </p:ext>
            </p:extLst>
          </p:nvPr>
        </p:nvGraphicFramePr>
        <p:xfrm>
          <a:off x="10242481" y="4186682"/>
          <a:ext cx="6734118" cy="2463565"/>
        </p:xfrm>
        <a:graphic>
          <a:graphicData uri="http://schemas.openxmlformats.org/drawingml/2006/table">
            <a:tbl>
              <a:tblPr/>
              <a:tblGrid>
                <a:gridCol w="6734118">
                  <a:extLst>
                    <a:ext uri="{9D8B030D-6E8A-4147-A177-3AD203B41FA5}">
                      <a16:colId xmlns:a16="http://schemas.microsoft.com/office/drawing/2014/main" val="20000"/>
                    </a:ext>
                  </a:extLst>
                </a:gridCol>
              </a:tblGrid>
              <a:tr h="1622485">
                <a:tc>
                  <a:txBody>
                    <a:bodyPr/>
                    <a:lstStyle/>
                    <a:p>
                      <a:pPr algn="l">
                        <a:lnSpc>
                          <a:spcPts val="3779"/>
                        </a:lnSpc>
                        <a:defRPr/>
                      </a:pPr>
                      <a:r>
                        <a:rPr lang="en-US" sz="2699">
                          <a:solidFill>
                            <a:srgbClr val="FFFFFF"/>
                          </a:solidFill>
                          <a:latin typeface="Arimo"/>
                          <a:ea typeface="Arimo"/>
                          <a:cs typeface="Arimo"/>
                          <a:sym typeface="Arimo"/>
                        </a:rPr>
                        <a:t>LAP của bộ phận Staff </a:t>
                      </a:r>
                      <a:endParaRPr lang="en-US" sz="1100"/>
                    </a:p>
                    <a:p>
                      <a:pPr algn="l">
                        <a:lnSpc>
                          <a:spcPts val="3779"/>
                        </a:lnSpc>
                      </a:pPr>
                      <a:r>
                        <a:rPr lang="en-US" sz="2699">
                          <a:solidFill>
                            <a:srgbClr val="FFFFFF"/>
                          </a:solidFill>
                          <a:latin typeface="Arimo"/>
                          <a:ea typeface="Arimo"/>
                          <a:cs typeface="Arimo"/>
                          <a:sym typeface="Arimo"/>
                        </a:rPr>
                        <a:t>•SSID : Staff</a:t>
                      </a:r>
                    </a:p>
                    <a:p>
                      <a:pPr algn="l">
                        <a:lnSpc>
                          <a:spcPts val="3779"/>
                        </a:lnSpc>
                      </a:pPr>
                      <a:r>
                        <a:rPr lang="en-US" sz="2699">
                          <a:solidFill>
                            <a:srgbClr val="FFFFFF"/>
                          </a:solidFill>
                          <a:latin typeface="Arimo"/>
                          <a:ea typeface="Arimo"/>
                          <a:cs typeface="Arimo"/>
                          <a:sym typeface="Arimo"/>
                        </a:rPr>
                        <a:t>•Security : WPA-WPA2 </a:t>
                      </a:r>
                    </a:p>
                    <a:p>
                      <a:pPr algn="l">
                        <a:lnSpc>
                          <a:spcPts val="3779"/>
                        </a:lnSpc>
                      </a:pPr>
                      <a:r>
                        <a:rPr lang="en-US" sz="2699">
                          <a:solidFill>
                            <a:srgbClr val="FFFFFF"/>
                          </a:solidFill>
                          <a:latin typeface="Arimo"/>
                          <a:ea typeface="Arimo"/>
                          <a:cs typeface="Arimo"/>
                          <a:sym typeface="Arimo"/>
                        </a:rPr>
                        <a:t>•Authentication Key Management : 802.1X</a:t>
                      </a:r>
                    </a:p>
                  </a:txBody>
                  <a:tcPr marL="0" marR="0" marT="0" marB="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0"/>
                  </a:ext>
                </a:extLst>
              </a:tr>
              <a:tr h="575773">
                <a:tc>
                  <a:txBody>
                    <a:bodyPr/>
                    <a:lstStyle/>
                    <a:p>
                      <a:pPr algn="l">
                        <a:lnSpc>
                          <a:spcPts val="3779"/>
                        </a:lnSpc>
                        <a:defRPr/>
                      </a:pPr>
                      <a:endParaRPr lang="en-US" sz="2699">
                        <a:solidFill>
                          <a:srgbClr val="FFFFFF"/>
                        </a:solidFill>
                        <a:latin typeface="Arimo"/>
                        <a:ea typeface="Arimo"/>
                        <a:cs typeface="Arimo"/>
                        <a:sym typeface="Arimo"/>
                      </a:endParaRPr>
                    </a:p>
                  </a:txBody>
                  <a:tcPr marL="0" marR="0" marT="0" marB="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4" name="Freeform 4"/>
          <p:cNvSpPr/>
          <p:nvPr/>
        </p:nvSpPr>
        <p:spPr>
          <a:xfrm>
            <a:off x="15234733" y="0"/>
            <a:ext cx="3044931" cy="1753992"/>
          </a:xfrm>
          <a:custGeom>
            <a:avLst/>
            <a:gdLst/>
            <a:ahLst/>
            <a:cxnLst/>
            <a:rect l="l" t="t" r="r" b="b"/>
            <a:pathLst>
              <a:path w="3044931" h="1753992">
                <a:moveTo>
                  <a:pt x="0" y="0"/>
                </a:moveTo>
                <a:lnTo>
                  <a:pt x="3044931" y="0"/>
                </a:lnTo>
                <a:lnTo>
                  <a:pt x="3044931" y="1753992"/>
                </a:lnTo>
                <a:lnTo>
                  <a:pt x="0" y="1753992"/>
                </a:lnTo>
                <a:lnTo>
                  <a:pt x="0" y="0"/>
                </a:lnTo>
                <a:close/>
              </a:path>
            </a:pathLst>
          </a:custGeom>
          <a:blipFill>
            <a:blip r:embed="rId2"/>
            <a:stretch>
              <a:fillRect/>
            </a:stretch>
          </a:blipFill>
        </p:spPr>
        <p:txBody>
          <a:bodyPr/>
          <a:lstStyle/>
          <a:p>
            <a:endParaRPr lang="en-US"/>
          </a:p>
        </p:txBody>
      </p:sp>
      <p:sp>
        <p:nvSpPr>
          <p:cNvPr id="5" name="Freeform 5"/>
          <p:cNvSpPr/>
          <p:nvPr/>
        </p:nvSpPr>
        <p:spPr>
          <a:xfrm>
            <a:off x="213641" y="3902060"/>
            <a:ext cx="8930359" cy="2482880"/>
          </a:xfrm>
          <a:custGeom>
            <a:avLst/>
            <a:gdLst/>
            <a:ahLst/>
            <a:cxnLst/>
            <a:rect l="l" t="t" r="r" b="b"/>
            <a:pathLst>
              <a:path w="8930359" h="2482880">
                <a:moveTo>
                  <a:pt x="0" y="0"/>
                </a:moveTo>
                <a:lnTo>
                  <a:pt x="8930359" y="0"/>
                </a:lnTo>
                <a:lnTo>
                  <a:pt x="8930359" y="2482880"/>
                </a:lnTo>
                <a:lnTo>
                  <a:pt x="0" y="2482880"/>
                </a:lnTo>
                <a:lnTo>
                  <a:pt x="0" y="0"/>
                </a:lnTo>
                <a:close/>
              </a:path>
            </a:pathLst>
          </a:custGeom>
          <a:blipFill>
            <a:blip r:embed="rId3"/>
            <a:stretch>
              <a:fillRect/>
            </a:stretch>
          </a:blipFill>
        </p:spPr>
        <p:txBody>
          <a:bodyPr/>
          <a:lstStyle/>
          <a:p>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AutoShape 2"/>
          <p:cNvSpPr/>
          <p:nvPr/>
        </p:nvSpPr>
        <p:spPr>
          <a:xfrm rot="-5400000">
            <a:off x="5324805" y="5133975"/>
            <a:ext cx="7638389" cy="0"/>
          </a:xfrm>
          <a:prstGeom prst="line">
            <a:avLst/>
          </a:prstGeom>
          <a:ln w="19050" cap="rnd">
            <a:solidFill>
              <a:srgbClr val="10B5BF"/>
            </a:solidFill>
            <a:prstDash val="solid"/>
            <a:headEnd type="none" w="sm" len="sm"/>
            <a:tailEnd type="none" w="sm" len="sm"/>
          </a:ln>
        </p:spPr>
        <p:txBody>
          <a:bodyPr/>
          <a:lstStyle/>
          <a:p>
            <a:endParaRPr lang="en-US"/>
          </a:p>
        </p:txBody>
      </p:sp>
      <p:graphicFrame>
        <p:nvGraphicFramePr>
          <p:cNvPr id="3" name="Table 3"/>
          <p:cNvGraphicFramePr>
            <a:graphicFrameLocks noGrp="1"/>
          </p:cNvGraphicFramePr>
          <p:nvPr>
            <p:extLst>
              <p:ext uri="{D42A27DB-BD31-4B8C-83A1-F6EECF244321}">
                <p14:modId xmlns:p14="http://schemas.microsoft.com/office/powerpoint/2010/main" val="2201921000"/>
              </p:ext>
            </p:extLst>
          </p:nvPr>
        </p:nvGraphicFramePr>
        <p:xfrm>
          <a:off x="10242481" y="2784972"/>
          <a:ext cx="6734118" cy="1887792"/>
        </p:xfrm>
        <a:graphic>
          <a:graphicData uri="http://schemas.openxmlformats.org/drawingml/2006/table">
            <a:tbl>
              <a:tblPr/>
              <a:tblGrid>
                <a:gridCol w="6734118">
                  <a:extLst>
                    <a:ext uri="{9D8B030D-6E8A-4147-A177-3AD203B41FA5}">
                      <a16:colId xmlns:a16="http://schemas.microsoft.com/office/drawing/2014/main" val="20000"/>
                    </a:ext>
                  </a:extLst>
                </a:gridCol>
              </a:tblGrid>
              <a:tr h="463198">
                <a:tc>
                  <a:txBody>
                    <a:bodyPr/>
                    <a:lstStyle/>
                    <a:p>
                      <a:pPr algn="l">
                        <a:lnSpc>
                          <a:spcPts val="3779"/>
                        </a:lnSpc>
                        <a:defRPr/>
                      </a:pPr>
                      <a:r>
                        <a:rPr lang="en-US" sz="2699">
                          <a:solidFill>
                            <a:srgbClr val="FFFFFF"/>
                          </a:solidFill>
                          <a:latin typeface="Arimo"/>
                          <a:ea typeface="Arimo"/>
                          <a:cs typeface="Arimo"/>
                          <a:sym typeface="Arimo"/>
                        </a:rPr>
                        <a:t>LAP của bộ phận POS </a:t>
                      </a:r>
                      <a:endParaRPr lang="en-US" sz="1100"/>
                    </a:p>
                    <a:p>
                      <a:pPr algn="l">
                        <a:lnSpc>
                          <a:spcPts val="3779"/>
                        </a:lnSpc>
                      </a:pPr>
                      <a:r>
                        <a:rPr lang="en-US" sz="2699">
                          <a:solidFill>
                            <a:srgbClr val="FFFFFF"/>
                          </a:solidFill>
                          <a:latin typeface="Arimo"/>
                          <a:ea typeface="Arimo"/>
                          <a:cs typeface="Arimo"/>
                          <a:sym typeface="Arimo"/>
                        </a:rPr>
                        <a:t>•SSID : POS</a:t>
                      </a:r>
                    </a:p>
                    <a:p>
                      <a:pPr algn="l">
                        <a:lnSpc>
                          <a:spcPts val="3779"/>
                        </a:lnSpc>
                      </a:pPr>
                      <a:r>
                        <a:rPr lang="en-US" sz="2699">
                          <a:solidFill>
                            <a:srgbClr val="FFFFFF"/>
                          </a:solidFill>
                          <a:latin typeface="Arimo"/>
                          <a:ea typeface="Arimo"/>
                          <a:cs typeface="Arimo"/>
                          <a:sym typeface="Arimo"/>
                        </a:rPr>
                        <a:t>•Security : WPA-WPA2 </a:t>
                      </a:r>
                    </a:p>
                    <a:p>
                      <a:pPr algn="l">
                        <a:lnSpc>
                          <a:spcPts val="3779"/>
                        </a:lnSpc>
                      </a:pPr>
                      <a:r>
                        <a:rPr lang="en-US" sz="2699">
                          <a:solidFill>
                            <a:srgbClr val="FFFFFF"/>
                          </a:solidFill>
                          <a:latin typeface="Arimo"/>
                          <a:ea typeface="Arimo"/>
                          <a:cs typeface="Arimo"/>
                          <a:sym typeface="Arimo"/>
                        </a:rPr>
                        <a:t>•Authentication Key Management : PSK</a:t>
                      </a:r>
                    </a:p>
                  </a:txBody>
                  <a:tcPr marL="0" marR="0" marT="0" marB="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4" name="Freeform 4"/>
          <p:cNvSpPr/>
          <p:nvPr/>
        </p:nvSpPr>
        <p:spPr>
          <a:xfrm>
            <a:off x="15234733" y="0"/>
            <a:ext cx="3044931" cy="1753992"/>
          </a:xfrm>
          <a:custGeom>
            <a:avLst/>
            <a:gdLst/>
            <a:ahLst/>
            <a:cxnLst/>
            <a:rect l="l" t="t" r="r" b="b"/>
            <a:pathLst>
              <a:path w="3044931" h="1753992">
                <a:moveTo>
                  <a:pt x="0" y="0"/>
                </a:moveTo>
                <a:lnTo>
                  <a:pt x="3044931" y="0"/>
                </a:lnTo>
                <a:lnTo>
                  <a:pt x="3044931" y="1753992"/>
                </a:lnTo>
                <a:lnTo>
                  <a:pt x="0" y="1753992"/>
                </a:lnTo>
                <a:lnTo>
                  <a:pt x="0" y="0"/>
                </a:lnTo>
                <a:close/>
              </a:path>
            </a:pathLst>
          </a:custGeom>
          <a:blipFill>
            <a:blip r:embed="rId2"/>
            <a:stretch>
              <a:fillRect/>
            </a:stretch>
          </a:blipFill>
        </p:spPr>
        <p:txBody>
          <a:bodyPr/>
          <a:lstStyle/>
          <a:p>
            <a:endParaRPr lang="en-US"/>
          </a:p>
        </p:txBody>
      </p:sp>
      <p:sp>
        <p:nvSpPr>
          <p:cNvPr id="6" name="Freeform 6"/>
          <p:cNvSpPr/>
          <p:nvPr/>
        </p:nvSpPr>
        <p:spPr>
          <a:xfrm>
            <a:off x="218974" y="2515063"/>
            <a:ext cx="8925026" cy="2773995"/>
          </a:xfrm>
          <a:custGeom>
            <a:avLst/>
            <a:gdLst/>
            <a:ahLst/>
            <a:cxnLst/>
            <a:rect l="l" t="t" r="r" b="b"/>
            <a:pathLst>
              <a:path w="8925026" h="2773995">
                <a:moveTo>
                  <a:pt x="0" y="0"/>
                </a:moveTo>
                <a:lnTo>
                  <a:pt x="8925026" y="0"/>
                </a:lnTo>
                <a:lnTo>
                  <a:pt x="8925026" y="2773994"/>
                </a:lnTo>
                <a:lnTo>
                  <a:pt x="0" y="2773994"/>
                </a:lnTo>
                <a:lnTo>
                  <a:pt x="0" y="0"/>
                </a:lnTo>
                <a:close/>
              </a:path>
            </a:pathLst>
          </a:custGeom>
          <a:blipFill>
            <a:blip r:embed="rId3"/>
            <a:stretch>
              <a:fillRect/>
            </a:stretch>
          </a:blipFill>
        </p:spPr>
        <p:txBody>
          <a:bodyPr/>
          <a:lstStyle/>
          <a:p>
            <a:endParaRPr lang="en-US"/>
          </a:p>
        </p:txBody>
      </p:sp>
      <p:sp>
        <p:nvSpPr>
          <p:cNvPr id="7" name="Freeform 7"/>
          <p:cNvSpPr/>
          <p:nvPr/>
        </p:nvSpPr>
        <p:spPr>
          <a:xfrm>
            <a:off x="235004" y="5659763"/>
            <a:ext cx="8908996" cy="2765415"/>
          </a:xfrm>
          <a:custGeom>
            <a:avLst/>
            <a:gdLst/>
            <a:ahLst/>
            <a:cxnLst/>
            <a:rect l="l" t="t" r="r" b="b"/>
            <a:pathLst>
              <a:path w="8908996" h="2765415">
                <a:moveTo>
                  <a:pt x="0" y="0"/>
                </a:moveTo>
                <a:lnTo>
                  <a:pt x="8908996" y="0"/>
                </a:lnTo>
                <a:lnTo>
                  <a:pt x="8908996" y="2765415"/>
                </a:lnTo>
                <a:lnTo>
                  <a:pt x="0" y="2765415"/>
                </a:lnTo>
                <a:lnTo>
                  <a:pt x="0" y="0"/>
                </a:lnTo>
                <a:close/>
              </a:path>
            </a:pathLst>
          </a:custGeom>
          <a:blipFill>
            <a:blip r:embed="rId4"/>
            <a:stretch>
              <a:fillRect b="-8856"/>
            </a:stretch>
          </a:blipFill>
        </p:spPr>
        <p:txBody>
          <a:bodyPr/>
          <a:lstStyle/>
          <a:p>
            <a:endParaRPr lang="en-US"/>
          </a:p>
        </p:txBody>
      </p:sp>
      <p:sp>
        <p:nvSpPr>
          <p:cNvPr id="9" name="TextBox 8">
            <a:extLst>
              <a:ext uri="{FF2B5EF4-FFF2-40B4-BE49-F238E27FC236}">
                <a16:creationId xmlns:a16="http://schemas.microsoft.com/office/drawing/2014/main" id="{57F372BC-6CBA-4F80-744A-4B88688261B8}"/>
              </a:ext>
            </a:extLst>
          </p:cNvPr>
          <p:cNvSpPr txBox="1"/>
          <p:nvPr/>
        </p:nvSpPr>
        <p:spPr>
          <a:xfrm>
            <a:off x="10242481" y="6041715"/>
            <a:ext cx="9144000" cy="2001510"/>
          </a:xfrm>
          <a:prstGeom prst="rect">
            <a:avLst/>
          </a:prstGeom>
          <a:noFill/>
        </p:spPr>
        <p:txBody>
          <a:bodyPr wrap="square">
            <a:spAutoFit/>
          </a:bodyPr>
          <a:lstStyle/>
          <a:p>
            <a:pPr algn="l">
              <a:lnSpc>
                <a:spcPts val="3779"/>
              </a:lnSpc>
              <a:defRPr/>
            </a:pPr>
            <a:r>
              <a:rPr lang="en-US" sz="2800">
                <a:solidFill>
                  <a:srgbClr val="FFFFFF"/>
                </a:solidFill>
                <a:latin typeface="Arimo"/>
                <a:ea typeface="Arimo"/>
                <a:cs typeface="Arimo"/>
                <a:sym typeface="Arimo"/>
              </a:rPr>
              <a:t>LAP của bộ phận GUEST</a:t>
            </a:r>
            <a:endParaRPr lang="en-US" sz="2800"/>
          </a:p>
          <a:p>
            <a:pPr algn="l">
              <a:lnSpc>
                <a:spcPts val="3779"/>
              </a:lnSpc>
            </a:pPr>
            <a:r>
              <a:rPr lang="en-US" sz="2800">
                <a:solidFill>
                  <a:srgbClr val="FFFFFF"/>
                </a:solidFill>
                <a:latin typeface="Arimo"/>
                <a:ea typeface="Arimo"/>
                <a:cs typeface="Arimo"/>
                <a:sym typeface="Arimo"/>
              </a:rPr>
              <a:t>•SSID : Guess</a:t>
            </a:r>
          </a:p>
          <a:p>
            <a:pPr algn="l">
              <a:lnSpc>
                <a:spcPts val="3779"/>
              </a:lnSpc>
            </a:pPr>
            <a:r>
              <a:rPr lang="en-US" sz="2800">
                <a:solidFill>
                  <a:srgbClr val="FFFFFF"/>
                </a:solidFill>
                <a:latin typeface="Arimo"/>
                <a:ea typeface="Arimo"/>
                <a:cs typeface="Arimo"/>
                <a:sym typeface="Arimo"/>
              </a:rPr>
              <a:t>•Security : None</a:t>
            </a:r>
          </a:p>
          <a:p>
            <a:pPr algn="l">
              <a:lnSpc>
                <a:spcPts val="3779"/>
              </a:lnSpc>
            </a:pPr>
            <a:r>
              <a:rPr lang="en-US" sz="2800">
                <a:solidFill>
                  <a:srgbClr val="FFFFFF"/>
                </a:solidFill>
                <a:latin typeface="Arimo"/>
                <a:ea typeface="Arimo"/>
                <a:cs typeface="Arimo"/>
                <a:sym typeface="Arimo"/>
              </a:rPr>
              <a:t>•Authentication Key Management : None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3602097" y="4558774"/>
            <a:ext cx="8235903" cy="895350"/>
          </a:xfrm>
          <a:prstGeom prst="rect">
            <a:avLst/>
          </a:prstGeom>
        </p:spPr>
        <p:txBody>
          <a:bodyPr lIns="0" tIns="0" rIns="0" bIns="0" rtlCol="0" anchor="t">
            <a:spAutoFit/>
          </a:bodyPr>
          <a:lstStyle/>
          <a:p>
            <a:pPr algn="l">
              <a:lnSpc>
                <a:spcPts val="7109"/>
              </a:lnSpc>
            </a:pPr>
            <a:r>
              <a:rPr lang="en-US" sz="5924">
                <a:solidFill>
                  <a:srgbClr val="FFFFFF"/>
                </a:solidFill>
                <a:latin typeface="Poppins Medium"/>
                <a:ea typeface="Poppins Medium"/>
                <a:cs typeface="Poppins Medium"/>
                <a:sym typeface="Poppins Medium"/>
              </a:rPr>
              <a:t>4.</a:t>
            </a:r>
            <a:r>
              <a:rPr lang="en-US" sz="5924">
                <a:solidFill>
                  <a:srgbClr val="10B5BF"/>
                </a:solidFill>
                <a:latin typeface="Poppins Medium"/>
                <a:ea typeface="Poppins Medium"/>
                <a:cs typeface="Poppins Medium"/>
                <a:sym typeface="Poppins Medium"/>
              </a:rPr>
              <a:t> </a:t>
            </a:r>
            <a:r>
              <a:rPr lang="en-US" sz="5924">
                <a:solidFill>
                  <a:srgbClr val="FFFFFF"/>
                </a:solidFill>
                <a:latin typeface="Poppins Medium"/>
                <a:ea typeface="Poppins Medium"/>
                <a:cs typeface="Poppins Medium"/>
                <a:sym typeface="Poppins Medium"/>
              </a:rPr>
              <a:t>CẤU TRÚC HẠ TẦNG</a:t>
            </a:r>
          </a:p>
        </p:txBody>
      </p:sp>
      <p:sp>
        <p:nvSpPr>
          <p:cNvPr id="3" name="Freeform 3"/>
          <p:cNvSpPr/>
          <p:nvPr/>
        </p:nvSpPr>
        <p:spPr>
          <a:xfrm flipH="1" flipV="1">
            <a:off x="14458856" y="2083531"/>
            <a:ext cx="7641615" cy="5845836"/>
          </a:xfrm>
          <a:custGeom>
            <a:avLst/>
            <a:gdLst/>
            <a:ahLst/>
            <a:cxnLst/>
            <a:rect l="l" t="t" r="r" b="b"/>
            <a:pathLst>
              <a:path w="7641615" h="5845836">
                <a:moveTo>
                  <a:pt x="7641615" y="5845836"/>
                </a:moveTo>
                <a:lnTo>
                  <a:pt x="0" y="5845836"/>
                </a:lnTo>
                <a:lnTo>
                  <a:pt x="0" y="0"/>
                </a:lnTo>
                <a:lnTo>
                  <a:pt x="7641615" y="0"/>
                </a:lnTo>
                <a:lnTo>
                  <a:pt x="7641615" y="5845836"/>
                </a:lnTo>
                <a:close/>
              </a:path>
            </a:pathLst>
          </a:custGeom>
          <a:blipFill>
            <a:blip r:embed="rId2"/>
            <a:stretch>
              <a:fillRect/>
            </a:stretch>
          </a:blipFill>
        </p:spPr>
        <p:txBody>
          <a:bodyPr/>
          <a:lstStyle/>
          <a:p>
            <a:endParaRPr lang="en-US"/>
          </a:p>
        </p:txBody>
      </p:sp>
      <p:sp>
        <p:nvSpPr>
          <p:cNvPr id="4" name="Freeform 4"/>
          <p:cNvSpPr/>
          <p:nvPr/>
        </p:nvSpPr>
        <p:spPr>
          <a:xfrm>
            <a:off x="14458856" y="5562272"/>
            <a:ext cx="1343326" cy="4734190"/>
          </a:xfrm>
          <a:custGeom>
            <a:avLst/>
            <a:gdLst/>
            <a:ahLst/>
            <a:cxnLst/>
            <a:rect l="l" t="t" r="r" b="b"/>
            <a:pathLst>
              <a:path w="1343326" h="4734190">
                <a:moveTo>
                  <a:pt x="0" y="0"/>
                </a:moveTo>
                <a:lnTo>
                  <a:pt x="1343326" y="0"/>
                </a:lnTo>
                <a:lnTo>
                  <a:pt x="1343326" y="4734190"/>
                </a:lnTo>
                <a:lnTo>
                  <a:pt x="0" y="4734190"/>
                </a:lnTo>
                <a:lnTo>
                  <a:pt x="0" y="0"/>
                </a:lnTo>
                <a:close/>
              </a:path>
            </a:pathLst>
          </a:custGeom>
          <a:blipFill>
            <a:blip r:embed="rId3"/>
            <a:stretch>
              <a:fillRect/>
            </a:stretch>
          </a:blipFill>
        </p:spPr>
        <p:txBody>
          <a:bodyPr/>
          <a:lstStyle/>
          <a:p>
            <a:endParaRPr lang="en-US"/>
          </a:p>
        </p:txBody>
      </p:sp>
      <p:sp>
        <p:nvSpPr>
          <p:cNvPr id="5" name="Freeform 5"/>
          <p:cNvSpPr/>
          <p:nvPr/>
        </p:nvSpPr>
        <p:spPr>
          <a:xfrm>
            <a:off x="15234733" y="0"/>
            <a:ext cx="3044931" cy="1753992"/>
          </a:xfrm>
          <a:custGeom>
            <a:avLst/>
            <a:gdLst/>
            <a:ahLst/>
            <a:cxnLst/>
            <a:rect l="l" t="t" r="r" b="b"/>
            <a:pathLst>
              <a:path w="3044931" h="1753992">
                <a:moveTo>
                  <a:pt x="0" y="0"/>
                </a:moveTo>
                <a:lnTo>
                  <a:pt x="3044931" y="0"/>
                </a:lnTo>
                <a:lnTo>
                  <a:pt x="3044931" y="1753992"/>
                </a:lnTo>
                <a:lnTo>
                  <a:pt x="0" y="1753992"/>
                </a:lnTo>
                <a:lnTo>
                  <a:pt x="0" y="0"/>
                </a:lnTo>
                <a:close/>
              </a:path>
            </a:pathLst>
          </a:custGeom>
          <a:blipFill>
            <a:blip r:embed="rId4"/>
            <a:stretch>
              <a:fillRect/>
            </a:stretch>
          </a:blipFill>
        </p:spPr>
        <p:txBody>
          <a:bodyPr/>
          <a:lstStyle/>
          <a:p>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rot="6585397">
            <a:off x="-57885" y="38327"/>
            <a:ext cx="2525842" cy="2603961"/>
          </a:xfrm>
          <a:custGeom>
            <a:avLst/>
            <a:gdLst/>
            <a:ahLst/>
            <a:cxnLst/>
            <a:rect l="l" t="t" r="r" b="b"/>
            <a:pathLst>
              <a:path w="2525842" h="2603961">
                <a:moveTo>
                  <a:pt x="0" y="0"/>
                </a:moveTo>
                <a:lnTo>
                  <a:pt x="2525842" y="0"/>
                </a:lnTo>
                <a:lnTo>
                  <a:pt x="2525842" y="2603961"/>
                </a:lnTo>
                <a:lnTo>
                  <a:pt x="0" y="2603961"/>
                </a:lnTo>
                <a:lnTo>
                  <a:pt x="0" y="0"/>
                </a:lnTo>
                <a:close/>
              </a:path>
            </a:pathLst>
          </a:custGeom>
          <a:blipFill>
            <a:blip r:embed="rId2"/>
            <a:stretch>
              <a:fillRect/>
            </a:stretch>
          </a:blipFill>
        </p:spPr>
        <p:txBody>
          <a:bodyPr/>
          <a:lstStyle/>
          <a:p>
            <a:endParaRPr lang="en-US"/>
          </a:p>
        </p:txBody>
      </p:sp>
      <p:sp>
        <p:nvSpPr>
          <p:cNvPr id="3" name="Freeform 3"/>
          <p:cNvSpPr/>
          <p:nvPr/>
        </p:nvSpPr>
        <p:spPr>
          <a:xfrm rot="64222" flipH="1">
            <a:off x="15236099" y="7936983"/>
            <a:ext cx="3028686" cy="2513809"/>
          </a:xfrm>
          <a:custGeom>
            <a:avLst/>
            <a:gdLst/>
            <a:ahLst/>
            <a:cxnLst/>
            <a:rect l="l" t="t" r="r" b="b"/>
            <a:pathLst>
              <a:path w="3028686" h="2513809">
                <a:moveTo>
                  <a:pt x="3028686" y="0"/>
                </a:moveTo>
                <a:lnTo>
                  <a:pt x="0" y="0"/>
                </a:lnTo>
                <a:lnTo>
                  <a:pt x="0" y="2513809"/>
                </a:lnTo>
                <a:lnTo>
                  <a:pt x="3028686" y="2513809"/>
                </a:lnTo>
                <a:lnTo>
                  <a:pt x="3028686" y="0"/>
                </a:lnTo>
                <a:close/>
              </a:path>
            </a:pathLst>
          </a:custGeom>
          <a:blipFill>
            <a:blip r:embed="rId3"/>
            <a:stretch>
              <a:fillRect/>
            </a:stretch>
          </a:blipFill>
        </p:spPr>
        <p:txBody>
          <a:bodyPr/>
          <a:lstStyle/>
          <a:p>
            <a:endParaRPr lang="en-US"/>
          </a:p>
        </p:txBody>
      </p:sp>
      <p:sp>
        <p:nvSpPr>
          <p:cNvPr id="4" name="Freeform 4"/>
          <p:cNvSpPr/>
          <p:nvPr/>
        </p:nvSpPr>
        <p:spPr>
          <a:xfrm>
            <a:off x="15234733" y="0"/>
            <a:ext cx="3044931" cy="1753992"/>
          </a:xfrm>
          <a:custGeom>
            <a:avLst/>
            <a:gdLst/>
            <a:ahLst/>
            <a:cxnLst/>
            <a:rect l="l" t="t" r="r" b="b"/>
            <a:pathLst>
              <a:path w="3044931" h="1753992">
                <a:moveTo>
                  <a:pt x="0" y="0"/>
                </a:moveTo>
                <a:lnTo>
                  <a:pt x="3044931" y="0"/>
                </a:lnTo>
                <a:lnTo>
                  <a:pt x="3044931" y="1753992"/>
                </a:lnTo>
                <a:lnTo>
                  <a:pt x="0" y="1753992"/>
                </a:lnTo>
                <a:lnTo>
                  <a:pt x="0" y="0"/>
                </a:lnTo>
                <a:close/>
              </a:path>
            </a:pathLst>
          </a:custGeom>
          <a:blipFill>
            <a:blip r:embed="rId4"/>
            <a:stretch>
              <a:fillRect/>
            </a:stretch>
          </a:blipFill>
        </p:spPr>
        <p:txBody>
          <a:bodyPr/>
          <a:lstStyle/>
          <a:p>
            <a:endParaRPr lang="en-US"/>
          </a:p>
        </p:txBody>
      </p:sp>
      <p:sp>
        <p:nvSpPr>
          <p:cNvPr id="5" name="Freeform 5"/>
          <p:cNvSpPr/>
          <p:nvPr/>
        </p:nvSpPr>
        <p:spPr>
          <a:xfrm>
            <a:off x="702465" y="640872"/>
            <a:ext cx="11645560" cy="8472145"/>
          </a:xfrm>
          <a:custGeom>
            <a:avLst/>
            <a:gdLst/>
            <a:ahLst/>
            <a:cxnLst/>
            <a:rect l="l" t="t" r="r" b="b"/>
            <a:pathLst>
              <a:path w="11645560" h="8472145">
                <a:moveTo>
                  <a:pt x="0" y="0"/>
                </a:moveTo>
                <a:lnTo>
                  <a:pt x="11645560" y="0"/>
                </a:lnTo>
                <a:lnTo>
                  <a:pt x="11645560" y="8472145"/>
                </a:lnTo>
                <a:lnTo>
                  <a:pt x="0" y="8472145"/>
                </a:lnTo>
                <a:lnTo>
                  <a:pt x="0" y="0"/>
                </a:lnTo>
                <a:close/>
              </a:path>
            </a:pathLst>
          </a:custGeom>
          <a:blipFill>
            <a:blip r:embed="rId5"/>
            <a:stretch>
              <a:fillRect/>
            </a:stretch>
          </a:blipFill>
        </p:spPr>
        <p:txBody>
          <a:bodyPr/>
          <a:lstStyle/>
          <a:p>
            <a:endParaRPr lang="en-US"/>
          </a:p>
        </p:txBody>
      </p:sp>
      <p:sp>
        <p:nvSpPr>
          <p:cNvPr id="6" name="TextBox 6"/>
          <p:cNvSpPr txBox="1"/>
          <p:nvPr/>
        </p:nvSpPr>
        <p:spPr>
          <a:xfrm>
            <a:off x="12369874" y="3136490"/>
            <a:ext cx="5729717" cy="4352925"/>
          </a:xfrm>
          <a:prstGeom prst="rect">
            <a:avLst/>
          </a:prstGeom>
        </p:spPr>
        <p:txBody>
          <a:bodyPr lIns="0" tIns="0" rIns="0" bIns="0" rtlCol="0" anchor="t">
            <a:spAutoFit/>
          </a:bodyPr>
          <a:lstStyle/>
          <a:p>
            <a:pPr marL="518160" lvl="1" indent="-259080" algn="l">
              <a:lnSpc>
                <a:spcPts val="2879"/>
              </a:lnSpc>
              <a:buFont typeface="Arial"/>
              <a:buChar char="•"/>
            </a:pPr>
            <a:r>
              <a:rPr lang="en-US" sz="2400" b="1" spc="112">
                <a:solidFill>
                  <a:srgbClr val="FFFFFF"/>
                </a:solidFill>
                <a:latin typeface="Arimo Bold"/>
                <a:ea typeface="Arimo Bold"/>
                <a:cs typeface="Arimo Bold"/>
                <a:sym typeface="Arimo Bold"/>
              </a:rPr>
              <a:t>DHCP chính là từ viết tắt của cụm từ Dynamic Host Configuration Protocol (được dịch là Giao thức Cấu hình Host Động). </a:t>
            </a:r>
          </a:p>
          <a:p>
            <a:pPr algn="l">
              <a:lnSpc>
                <a:spcPts val="2856"/>
              </a:lnSpc>
            </a:pPr>
            <a:endParaRPr lang="en-US" sz="2400" b="1" spc="112">
              <a:solidFill>
                <a:srgbClr val="FFFFFF"/>
              </a:solidFill>
              <a:latin typeface="Arimo Bold"/>
              <a:ea typeface="Arimo Bold"/>
              <a:cs typeface="Arimo Bold"/>
              <a:sym typeface="Arimo Bold"/>
            </a:endParaRPr>
          </a:p>
          <a:p>
            <a:pPr marL="518160" lvl="1" indent="-259080" algn="l">
              <a:lnSpc>
                <a:spcPts val="2879"/>
              </a:lnSpc>
              <a:buFont typeface="Arial"/>
              <a:buChar char="•"/>
            </a:pPr>
            <a:r>
              <a:rPr lang="en-US" sz="2400" b="1" spc="112">
                <a:solidFill>
                  <a:srgbClr val="FFFFFF"/>
                </a:solidFill>
                <a:latin typeface="Arimo Bold"/>
                <a:ea typeface="Arimo Bold"/>
                <a:cs typeface="Arimo Bold"/>
                <a:sym typeface="Arimo Bold"/>
              </a:rPr>
              <a:t>Theo đó, DHCP là giao thức có chức năng cấp phát địa chỉ IP cho tất cả các thiết bị truy cập trên cùng một mạng thông qua máy chủ DHCP được tích hợp trên router</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rot="6585397">
            <a:off x="-57885" y="38327"/>
            <a:ext cx="2525842" cy="2603961"/>
          </a:xfrm>
          <a:custGeom>
            <a:avLst/>
            <a:gdLst/>
            <a:ahLst/>
            <a:cxnLst/>
            <a:rect l="l" t="t" r="r" b="b"/>
            <a:pathLst>
              <a:path w="2525842" h="2603961">
                <a:moveTo>
                  <a:pt x="0" y="0"/>
                </a:moveTo>
                <a:lnTo>
                  <a:pt x="2525842" y="0"/>
                </a:lnTo>
                <a:lnTo>
                  <a:pt x="2525842" y="2603961"/>
                </a:lnTo>
                <a:lnTo>
                  <a:pt x="0" y="2603961"/>
                </a:lnTo>
                <a:lnTo>
                  <a:pt x="0" y="0"/>
                </a:lnTo>
                <a:close/>
              </a:path>
            </a:pathLst>
          </a:custGeom>
          <a:blipFill>
            <a:blip r:embed="rId2"/>
            <a:stretch>
              <a:fillRect/>
            </a:stretch>
          </a:blipFill>
        </p:spPr>
        <p:txBody>
          <a:bodyPr/>
          <a:lstStyle/>
          <a:p>
            <a:endParaRPr lang="en-US"/>
          </a:p>
        </p:txBody>
      </p:sp>
      <p:sp>
        <p:nvSpPr>
          <p:cNvPr id="3" name="Freeform 3"/>
          <p:cNvSpPr/>
          <p:nvPr/>
        </p:nvSpPr>
        <p:spPr>
          <a:xfrm rot="64222" flipH="1">
            <a:off x="15236099" y="7936983"/>
            <a:ext cx="3028686" cy="2513809"/>
          </a:xfrm>
          <a:custGeom>
            <a:avLst/>
            <a:gdLst/>
            <a:ahLst/>
            <a:cxnLst/>
            <a:rect l="l" t="t" r="r" b="b"/>
            <a:pathLst>
              <a:path w="3028686" h="2513809">
                <a:moveTo>
                  <a:pt x="3028686" y="0"/>
                </a:moveTo>
                <a:lnTo>
                  <a:pt x="0" y="0"/>
                </a:lnTo>
                <a:lnTo>
                  <a:pt x="0" y="2513809"/>
                </a:lnTo>
                <a:lnTo>
                  <a:pt x="3028686" y="2513809"/>
                </a:lnTo>
                <a:lnTo>
                  <a:pt x="3028686" y="0"/>
                </a:lnTo>
                <a:close/>
              </a:path>
            </a:pathLst>
          </a:custGeom>
          <a:blipFill>
            <a:blip r:embed="rId3"/>
            <a:stretch>
              <a:fillRect/>
            </a:stretch>
          </a:blipFill>
        </p:spPr>
        <p:txBody>
          <a:bodyPr/>
          <a:lstStyle/>
          <a:p>
            <a:endParaRPr lang="en-US"/>
          </a:p>
        </p:txBody>
      </p:sp>
      <p:sp>
        <p:nvSpPr>
          <p:cNvPr id="4" name="Freeform 4"/>
          <p:cNvSpPr/>
          <p:nvPr/>
        </p:nvSpPr>
        <p:spPr>
          <a:xfrm>
            <a:off x="15234733" y="0"/>
            <a:ext cx="3044931" cy="1753992"/>
          </a:xfrm>
          <a:custGeom>
            <a:avLst/>
            <a:gdLst/>
            <a:ahLst/>
            <a:cxnLst/>
            <a:rect l="l" t="t" r="r" b="b"/>
            <a:pathLst>
              <a:path w="3044931" h="1753992">
                <a:moveTo>
                  <a:pt x="0" y="0"/>
                </a:moveTo>
                <a:lnTo>
                  <a:pt x="3044931" y="0"/>
                </a:lnTo>
                <a:lnTo>
                  <a:pt x="3044931" y="1753992"/>
                </a:lnTo>
                <a:lnTo>
                  <a:pt x="0" y="1753992"/>
                </a:lnTo>
                <a:lnTo>
                  <a:pt x="0" y="0"/>
                </a:lnTo>
                <a:close/>
              </a:path>
            </a:pathLst>
          </a:custGeom>
          <a:blipFill>
            <a:blip r:embed="rId4"/>
            <a:stretch>
              <a:fillRect/>
            </a:stretch>
          </a:blipFill>
        </p:spPr>
        <p:txBody>
          <a:bodyPr/>
          <a:lstStyle/>
          <a:p>
            <a:endParaRPr lang="en-US"/>
          </a:p>
        </p:txBody>
      </p:sp>
      <p:sp>
        <p:nvSpPr>
          <p:cNvPr id="5" name="Freeform 5"/>
          <p:cNvSpPr/>
          <p:nvPr/>
        </p:nvSpPr>
        <p:spPr>
          <a:xfrm>
            <a:off x="1360901" y="1590274"/>
            <a:ext cx="10729077" cy="7106452"/>
          </a:xfrm>
          <a:custGeom>
            <a:avLst/>
            <a:gdLst/>
            <a:ahLst/>
            <a:cxnLst/>
            <a:rect l="l" t="t" r="r" b="b"/>
            <a:pathLst>
              <a:path w="10729077" h="7106452">
                <a:moveTo>
                  <a:pt x="0" y="0"/>
                </a:moveTo>
                <a:lnTo>
                  <a:pt x="10729077" y="0"/>
                </a:lnTo>
                <a:lnTo>
                  <a:pt x="10729077" y="7106452"/>
                </a:lnTo>
                <a:lnTo>
                  <a:pt x="0" y="7106452"/>
                </a:lnTo>
                <a:lnTo>
                  <a:pt x="0" y="0"/>
                </a:lnTo>
                <a:close/>
              </a:path>
            </a:pathLst>
          </a:custGeom>
          <a:blipFill>
            <a:blip r:embed="rId5"/>
            <a:stretch>
              <a:fillRect/>
            </a:stretch>
          </a:blipFill>
        </p:spPr>
        <p:txBody>
          <a:bodyPr/>
          <a:lstStyle/>
          <a:p>
            <a:endParaRPr lang="en-US"/>
          </a:p>
        </p:txBody>
      </p:sp>
      <p:sp>
        <p:nvSpPr>
          <p:cNvPr id="6" name="TextBox 6"/>
          <p:cNvSpPr txBox="1"/>
          <p:nvPr/>
        </p:nvSpPr>
        <p:spPr>
          <a:xfrm>
            <a:off x="12348025" y="3468329"/>
            <a:ext cx="5729717" cy="4714875"/>
          </a:xfrm>
          <a:prstGeom prst="rect">
            <a:avLst/>
          </a:prstGeom>
        </p:spPr>
        <p:txBody>
          <a:bodyPr lIns="0" tIns="0" rIns="0" bIns="0" rtlCol="0" anchor="t">
            <a:spAutoFit/>
          </a:bodyPr>
          <a:lstStyle/>
          <a:p>
            <a:pPr marL="518160" lvl="1" indent="-259080" algn="l">
              <a:lnSpc>
                <a:spcPts val="2879"/>
              </a:lnSpc>
              <a:buFont typeface="Arial"/>
              <a:buChar char="•"/>
            </a:pPr>
            <a:r>
              <a:rPr lang="en-US" sz="2400" b="1" spc="112">
                <a:solidFill>
                  <a:srgbClr val="FFFFFF"/>
                </a:solidFill>
                <a:latin typeface="Arimo Bold"/>
                <a:ea typeface="Arimo Bold"/>
                <a:cs typeface="Arimo Bold"/>
                <a:sym typeface="Arimo Bold"/>
              </a:rPr>
              <a:t>DNS Server hay còn được gọi là Domain Name System là một hệ thống đặt tên theo thứ tự cho máy tính, dịch vụ tham gia vào Internet</a:t>
            </a:r>
          </a:p>
          <a:p>
            <a:pPr algn="l">
              <a:lnSpc>
                <a:spcPts val="2879"/>
              </a:lnSpc>
              <a:spcBef>
                <a:spcPct val="0"/>
              </a:spcBef>
            </a:pPr>
            <a:endParaRPr lang="en-US" sz="2400" b="1" spc="112">
              <a:solidFill>
                <a:srgbClr val="FFFFFF"/>
              </a:solidFill>
              <a:latin typeface="Arimo Bold"/>
              <a:ea typeface="Arimo Bold"/>
              <a:cs typeface="Arimo Bold"/>
              <a:sym typeface="Arimo Bold"/>
            </a:endParaRPr>
          </a:p>
          <a:p>
            <a:pPr marL="518160" lvl="1" indent="-259080" algn="l">
              <a:lnSpc>
                <a:spcPts val="2879"/>
              </a:lnSpc>
              <a:buFont typeface="Arial"/>
              <a:buChar char="•"/>
            </a:pPr>
            <a:r>
              <a:rPr lang="en-US" sz="2400" b="1" spc="112">
                <a:solidFill>
                  <a:srgbClr val="FFFFFF"/>
                </a:solidFill>
                <a:latin typeface="Arimo Bold"/>
                <a:ea typeface="Arimo Bold"/>
                <a:cs typeface="Arimo Bold"/>
                <a:sym typeface="Arimo Bold"/>
              </a:rPr>
              <a:t>Nó liên kết nhiều thông tin đa dạng với tên miền được gán cho chúng sao cho người dùng có thể sử dụng tên miền đó để tìm hiểu các thông tin mà họ cần biết</a:t>
            </a:r>
          </a:p>
          <a:p>
            <a:pPr algn="l">
              <a:lnSpc>
                <a:spcPts val="2879"/>
              </a:lnSpc>
              <a:spcBef>
                <a:spcPct val="0"/>
              </a:spcBef>
            </a:pPr>
            <a:endParaRPr lang="en-US" sz="2400" b="1" spc="112">
              <a:solidFill>
                <a:srgbClr val="FFFFFF"/>
              </a:solidFill>
              <a:latin typeface="Arimo Bold"/>
              <a:ea typeface="Arimo Bold"/>
              <a:cs typeface="Arimo Bold"/>
              <a:sym typeface="Arimo Bo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rot="6585397">
            <a:off x="-57885" y="38327"/>
            <a:ext cx="2525842" cy="2603961"/>
          </a:xfrm>
          <a:custGeom>
            <a:avLst/>
            <a:gdLst/>
            <a:ahLst/>
            <a:cxnLst/>
            <a:rect l="l" t="t" r="r" b="b"/>
            <a:pathLst>
              <a:path w="2525842" h="2603961">
                <a:moveTo>
                  <a:pt x="0" y="0"/>
                </a:moveTo>
                <a:lnTo>
                  <a:pt x="2525842" y="0"/>
                </a:lnTo>
                <a:lnTo>
                  <a:pt x="2525842" y="2603961"/>
                </a:lnTo>
                <a:lnTo>
                  <a:pt x="0" y="2603961"/>
                </a:lnTo>
                <a:lnTo>
                  <a:pt x="0" y="0"/>
                </a:lnTo>
                <a:close/>
              </a:path>
            </a:pathLst>
          </a:custGeom>
          <a:blipFill>
            <a:blip r:embed="rId2"/>
            <a:stretch>
              <a:fillRect/>
            </a:stretch>
          </a:blipFill>
        </p:spPr>
        <p:txBody>
          <a:bodyPr/>
          <a:lstStyle/>
          <a:p>
            <a:endParaRPr lang="en-US"/>
          </a:p>
        </p:txBody>
      </p:sp>
      <p:sp>
        <p:nvSpPr>
          <p:cNvPr id="3" name="Freeform 3"/>
          <p:cNvSpPr/>
          <p:nvPr/>
        </p:nvSpPr>
        <p:spPr>
          <a:xfrm rot="64222" flipH="1">
            <a:off x="15236099" y="7936983"/>
            <a:ext cx="3028686" cy="2513809"/>
          </a:xfrm>
          <a:custGeom>
            <a:avLst/>
            <a:gdLst/>
            <a:ahLst/>
            <a:cxnLst/>
            <a:rect l="l" t="t" r="r" b="b"/>
            <a:pathLst>
              <a:path w="3028686" h="2513809">
                <a:moveTo>
                  <a:pt x="3028686" y="0"/>
                </a:moveTo>
                <a:lnTo>
                  <a:pt x="0" y="0"/>
                </a:lnTo>
                <a:lnTo>
                  <a:pt x="0" y="2513809"/>
                </a:lnTo>
                <a:lnTo>
                  <a:pt x="3028686" y="2513809"/>
                </a:lnTo>
                <a:lnTo>
                  <a:pt x="3028686" y="0"/>
                </a:lnTo>
                <a:close/>
              </a:path>
            </a:pathLst>
          </a:custGeom>
          <a:blipFill>
            <a:blip r:embed="rId3"/>
            <a:stretch>
              <a:fillRect/>
            </a:stretch>
          </a:blipFill>
        </p:spPr>
        <p:txBody>
          <a:bodyPr/>
          <a:lstStyle/>
          <a:p>
            <a:endParaRPr lang="en-US"/>
          </a:p>
        </p:txBody>
      </p:sp>
      <p:sp>
        <p:nvSpPr>
          <p:cNvPr id="4" name="Freeform 4"/>
          <p:cNvSpPr/>
          <p:nvPr/>
        </p:nvSpPr>
        <p:spPr>
          <a:xfrm>
            <a:off x="15234733" y="0"/>
            <a:ext cx="3044931" cy="1753992"/>
          </a:xfrm>
          <a:custGeom>
            <a:avLst/>
            <a:gdLst/>
            <a:ahLst/>
            <a:cxnLst/>
            <a:rect l="l" t="t" r="r" b="b"/>
            <a:pathLst>
              <a:path w="3044931" h="1753992">
                <a:moveTo>
                  <a:pt x="0" y="0"/>
                </a:moveTo>
                <a:lnTo>
                  <a:pt x="3044931" y="0"/>
                </a:lnTo>
                <a:lnTo>
                  <a:pt x="3044931" y="1753992"/>
                </a:lnTo>
                <a:lnTo>
                  <a:pt x="0" y="1753992"/>
                </a:lnTo>
                <a:lnTo>
                  <a:pt x="0" y="0"/>
                </a:lnTo>
                <a:close/>
              </a:path>
            </a:pathLst>
          </a:custGeom>
          <a:blipFill>
            <a:blip r:embed="rId4"/>
            <a:stretch>
              <a:fillRect/>
            </a:stretch>
          </a:blipFill>
        </p:spPr>
        <p:txBody>
          <a:bodyPr/>
          <a:lstStyle/>
          <a:p>
            <a:endParaRPr lang="en-US"/>
          </a:p>
        </p:txBody>
      </p:sp>
      <p:sp>
        <p:nvSpPr>
          <p:cNvPr id="5" name="Freeform 5"/>
          <p:cNvSpPr/>
          <p:nvPr/>
        </p:nvSpPr>
        <p:spPr>
          <a:xfrm>
            <a:off x="1028700" y="1028700"/>
            <a:ext cx="11428182" cy="7328322"/>
          </a:xfrm>
          <a:custGeom>
            <a:avLst/>
            <a:gdLst/>
            <a:ahLst/>
            <a:cxnLst/>
            <a:rect l="l" t="t" r="r" b="b"/>
            <a:pathLst>
              <a:path w="11428182" h="7328322">
                <a:moveTo>
                  <a:pt x="0" y="0"/>
                </a:moveTo>
                <a:lnTo>
                  <a:pt x="11428182" y="0"/>
                </a:lnTo>
                <a:lnTo>
                  <a:pt x="11428182" y="7328322"/>
                </a:lnTo>
                <a:lnTo>
                  <a:pt x="0" y="7328322"/>
                </a:lnTo>
                <a:lnTo>
                  <a:pt x="0" y="0"/>
                </a:lnTo>
                <a:close/>
              </a:path>
            </a:pathLst>
          </a:custGeom>
          <a:blipFill>
            <a:blip r:embed="rId5"/>
            <a:stretch>
              <a:fillRect/>
            </a:stretch>
          </a:blipFill>
        </p:spPr>
        <p:txBody>
          <a:bodyPr/>
          <a:lstStyle/>
          <a:p>
            <a:endParaRPr lang="en-US"/>
          </a:p>
        </p:txBody>
      </p:sp>
      <p:sp>
        <p:nvSpPr>
          <p:cNvPr id="6" name="TextBox 6"/>
          <p:cNvSpPr txBox="1"/>
          <p:nvPr/>
        </p:nvSpPr>
        <p:spPr>
          <a:xfrm>
            <a:off x="13033524" y="3505200"/>
            <a:ext cx="4402417" cy="3267075"/>
          </a:xfrm>
          <a:prstGeom prst="rect">
            <a:avLst/>
          </a:prstGeom>
        </p:spPr>
        <p:txBody>
          <a:bodyPr lIns="0" tIns="0" rIns="0" bIns="0" rtlCol="0" anchor="t">
            <a:spAutoFit/>
          </a:bodyPr>
          <a:lstStyle/>
          <a:p>
            <a:pPr marL="518160" lvl="1" indent="-259080" algn="l">
              <a:lnSpc>
                <a:spcPts val="2879"/>
              </a:lnSpc>
              <a:spcBef>
                <a:spcPct val="0"/>
              </a:spcBef>
              <a:buFont typeface="Arial"/>
              <a:buChar char="•"/>
            </a:pPr>
            <a:r>
              <a:rPr lang="en-US" sz="2400" b="1">
                <a:solidFill>
                  <a:srgbClr val="FFFFFF"/>
                </a:solidFill>
                <a:latin typeface="Arimo Bold"/>
                <a:ea typeface="Arimo Bold"/>
                <a:cs typeface="Arimo Bold"/>
                <a:sym typeface="Arimo Bold"/>
              </a:rPr>
              <a:t>FTP là viết tắt của File Transfer Protocol trong tiếng Anh, đây là một giao thức truyền tải tập tin từ một máy tính này sang một máy tính khác thông qua một mạng TCP hoặc qua mạng Internet</a:t>
            </a:r>
          </a:p>
          <a:p>
            <a:pPr algn="ctr">
              <a:lnSpc>
                <a:spcPts val="2879"/>
              </a:lnSpc>
              <a:spcBef>
                <a:spcPct val="0"/>
              </a:spcBef>
            </a:pPr>
            <a:endParaRPr lang="en-US" sz="2400" b="1">
              <a:solidFill>
                <a:srgbClr val="FFFFFF"/>
              </a:solidFill>
              <a:latin typeface="Arimo Bold"/>
              <a:ea typeface="Arimo Bold"/>
              <a:cs typeface="Arimo Bold"/>
              <a:sym typeface="Arimo Bo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15234733" y="0"/>
            <a:ext cx="3044931" cy="1753992"/>
          </a:xfrm>
          <a:custGeom>
            <a:avLst/>
            <a:gdLst/>
            <a:ahLst/>
            <a:cxnLst/>
            <a:rect l="l" t="t" r="r" b="b"/>
            <a:pathLst>
              <a:path w="3044931" h="1753992">
                <a:moveTo>
                  <a:pt x="0" y="0"/>
                </a:moveTo>
                <a:lnTo>
                  <a:pt x="3044931" y="0"/>
                </a:lnTo>
                <a:lnTo>
                  <a:pt x="3044931" y="1753992"/>
                </a:lnTo>
                <a:lnTo>
                  <a:pt x="0" y="1753992"/>
                </a:lnTo>
                <a:lnTo>
                  <a:pt x="0" y="0"/>
                </a:lnTo>
                <a:close/>
              </a:path>
            </a:pathLst>
          </a:custGeom>
          <a:blipFill>
            <a:blip r:embed="rId2"/>
            <a:stretch>
              <a:fillRect/>
            </a:stretch>
          </a:blipFill>
        </p:spPr>
        <p:txBody>
          <a:bodyPr/>
          <a:lstStyle/>
          <a:p>
            <a:endParaRPr lang="en-US"/>
          </a:p>
        </p:txBody>
      </p:sp>
      <p:sp>
        <p:nvSpPr>
          <p:cNvPr id="3" name="Freeform 3"/>
          <p:cNvSpPr/>
          <p:nvPr/>
        </p:nvSpPr>
        <p:spPr>
          <a:xfrm>
            <a:off x="1043005" y="3366786"/>
            <a:ext cx="4614845" cy="5891514"/>
          </a:xfrm>
          <a:custGeom>
            <a:avLst/>
            <a:gdLst/>
            <a:ahLst/>
            <a:cxnLst/>
            <a:rect l="l" t="t" r="r" b="b"/>
            <a:pathLst>
              <a:path w="4614845" h="5891514">
                <a:moveTo>
                  <a:pt x="0" y="0"/>
                </a:moveTo>
                <a:lnTo>
                  <a:pt x="4614845" y="0"/>
                </a:lnTo>
                <a:lnTo>
                  <a:pt x="4614845" y="5891514"/>
                </a:lnTo>
                <a:lnTo>
                  <a:pt x="0" y="5891514"/>
                </a:lnTo>
                <a:lnTo>
                  <a:pt x="0" y="0"/>
                </a:lnTo>
                <a:close/>
              </a:path>
            </a:pathLst>
          </a:custGeom>
          <a:blipFill>
            <a:blip r:embed="rId3"/>
            <a:stretch>
              <a:fillRect/>
            </a:stretch>
          </a:blipFill>
        </p:spPr>
        <p:txBody>
          <a:bodyPr/>
          <a:lstStyle/>
          <a:p>
            <a:endParaRPr lang="en-US"/>
          </a:p>
        </p:txBody>
      </p:sp>
      <p:sp>
        <p:nvSpPr>
          <p:cNvPr id="4" name="Freeform 4"/>
          <p:cNvSpPr/>
          <p:nvPr/>
        </p:nvSpPr>
        <p:spPr>
          <a:xfrm>
            <a:off x="6841810" y="3366786"/>
            <a:ext cx="4604381" cy="5891514"/>
          </a:xfrm>
          <a:custGeom>
            <a:avLst/>
            <a:gdLst/>
            <a:ahLst/>
            <a:cxnLst/>
            <a:rect l="l" t="t" r="r" b="b"/>
            <a:pathLst>
              <a:path w="4604381" h="5891514">
                <a:moveTo>
                  <a:pt x="0" y="0"/>
                </a:moveTo>
                <a:lnTo>
                  <a:pt x="4604380" y="0"/>
                </a:lnTo>
                <a:lnTo>
                  <a:pt x="4604380" y="5891514"/>
                </a:lnTo>
                <a:lnTo>
                  <a:pt x="0" y="5891514"/>
                </a:lnTo>
                <a:lnTo>
                  <a:pt x="0" y="0"/>
                </a:lnTo>
                <a:close/>
              </a:path>
            </a:pathLst>
          </a:custGeom>
          <a:blipFill>
            <a:blip r:embed="rId4"/>
            <a:stretch>
              <a:fillRect/>
            </a:stretch>
          </a:blipFill>
        </p:spPr>
        <p:txBody>
          <a:bodyPr/>
          <a:lstStyle/>
          <a:p>
            <a:endParaRPr lang="en-US"/>
          </a:p>
        </p:txBody>
      </p:sp>
      <p:sp>
        <p:nvSpPr>
          <p:cNvPr id="5" name="Freeform 5"/>
          <p:cNvSpPr/>
          <p:nvPr/>
        </p:nvSpPr>
        <p:spPr>
          <a:xfrm>
            <a:off x="12627290" y="3349451"/>
            <a:ext cx="4563577" cy="5908849"/>
          </a:xfrm>
          <a:custGeom>
            <a:avLst/>
            <a:gdLst/>
            <a:ahLst/>
            <a:cxnLst/>
            <a:rect l="l" t="t" r="r" b="b"/>
            <a:pathLst>
              <a:path w="4563577" h="5908849">
                <a:moveTo>
                  <a:pt x="0" y="0"/>
                </a:moveTo>
                <a:lnTo>
                  <a:pt x="4563577" y="0"/>
                </a:lnTo>
                <a:lnTo>
                  <a:pt x="4563577" y="5908849"/>
                </a:lnTo>
                <a:lnTo>
                  <a:pt x="0" y="5908849"/>
                </a:lnTo>
                <a:lnTo>
                  <a:pt x="0" y="0"/>
                </a:lnTo>
                <a:close/>
              </a:path>
            </a:pathLst>
          </a:custGeom>
          <a:blipFill>
            <a:blip r:embed="rId5"/>
            <a:stretch>
              <a:fillRect/>
            </a:stretch>
          </a:blipFill>
        </p:spPr>
        <p:txBody>
          <a:bodyPr/>
          <a:lstStyle/>
          <a:p>
            <a:endParaRPr lang="en-US"/>
          </a:p>
        </p:txBody>
      </p:sp>
      <p:sp>
        <p:nvSpPr>
          <p:cNvPr id="6" name="TextBox 6"/>
          <p:cNvSpPr txBox="1"/>
          <p:nvPr/>
        </p:nvSpPr>
        <p:spPr>
          <a:xfrm>
            <a:off x="5570160" y="1068192"/>
            <a:ext cx="7147679" cy="1323975"/>
          </a:xfrm>
          <a:prstGeom prst="rect">
            <a:avLst/>
          </a:prstGeom>
        </p:spPr>
        <p:txBody>
          <a:bodyPr lIns="0" tIns="0" rIns="0" bIns="0" rtlCol="0" anchor="t">
            <a:spAutoFit/>
          </a:bodyPr>
          <a:lstStyle/>
          <a:p>
            <a:pPr algn="ctr">
              <a:lnSpc>
                <a:spcPts val="10440"/>
              </a:lnSpc>
              <a:spcBef>
                <a:spcPct val="0"/>
              </a:spcBef>
            </a:pPr>
            <a:r>
              <a:rPr lang="en-US" sz="8700" b="1">
                <a:solidFill>
                  <a:srgbClr val="FFFFFF"/>
                </a:solidFill>
                <a:latin typeface="Poppins Medium Bold"/>
                <a:ea typeface="Poppins Medium Bold"/>
                <a:cs typeface="Poppins Medium Bold"/>
                <a:sym typeface="Poppins Medium Bold"/>
              </a:rPr>
              <a:t>SSID CHO AP</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6294945" y="4510088"/>
            <a:ext cx="5531339" cy="1266825"/>
          </a:xfrm>
          <a:prstGeom prst="rect">
            <a:avLst/>
          </a:prstGeom>
        </p:spPr>
        <p:txBody>
          <a:bodyPr lIns="0" tIns="0" rIns="0" bIns="0" rtlCol="0" anchor="t">
            <a:spAutoFit/>
          </a:bodyPr>
          <a:lstStyle/>
          <a:p>
            <a:pPr algn="l">
              <a:lnSpc>
                <a:spcPts val="9989"/>
              </a:lnSpc>
            </a:pPr>
            <a:r>
              <a:rPr lang="en-US" sz="8324" b="1">
                <a:solidFill>
                  <a:srgbClr val="FFFFFF"/>
                </a:solidFill>
                <a:latin typeface="Poppins Medium Bold"/>
                <a:ea typeface="Poppins Medium Bold"/>
                <a:cs typeface="Poppins Medium Bold"/>
                <a:sym typeface="Poppins Medium Bold"/>
              </a:rPr>
              <a:t>BẢO MẬT</a:t>
            </a:r>
          </a:p>
        </p:txBody>
      </p:sp>
      <p:sp>
        <p:nvSpPr>
          <p:cNvPr id="3" name="Freeform 3"/>
          <p:cNvSpPr/>
          <p:nvPr/>
        </p:nvSpPr>
        <p:spPr>
          <a:xfrm flipH="1" flipV="1">
            <a:off x="14458856" y="2083531"/>
            <a:ext cx="7641615" cy="5845836"/>
          </a:xfrm>
          <a:custGeom>
            <a:avLst/>
            <a:gdLst/>
            <a:ahLst/>
            <a:cxnLst/>
            <a:rect l="l" t="t" r="r" b="b"/>
            <a:pathLst>
              <a:path w="7641615" h="5845836">
                <a:moveTo>
                  <a:pt x="7641615" y="5845836"/>
                </a:moveTo>
                <a:lnTo>
                  <a:pt x="0" y="5845836"/>
                </a:lnTo>
                <a:lnTo>
                  <a:pt x="0" y="0"/>
                </a:lnTo>
                <a:lnTo>
                  <a:pt x="7641615" y="0"/>
                </a:lnTo>
                <a:lnTo>
                  <a:pt x="7641615" y="5845836"/>
                </a:lnTo>
                <a:close/>
              </a:path>
            </a:pathLst>
          </a:custGeom>
          <a:blipFill>
            <a:blip r:embed="rId2"/>
            <a:stretch>
              <a:fillRect/>
            </a:stretch>
          </a:blipFill>
        </p:spPr>
        <p:txBody>
          <a:bodyPr/>
          <a:lstStyle/>
          <a:p>
            <a:endParaRPr lang="en-US"/>
          </a:p>
        </p:txBody>
      </p:sp>
      <p:sp>
        <p:nvSpPr>
          <p:cNvPr id="4" name="Freeform 4"/>
          <p:cNvSpPr/>
          <p:nvPr/>
        </p:nvSpPr>
        <p:spPr>
          <a:xfrm>
            <a:off x="14458856" y="5562272"/>
            <a:ext cx="1343326" cy="4734190"/>
          </a:xfrm>
          <a:custGeom>
            <a:avLst/>
            <a:gdLst/>
            <a:ahLst/>
            <a:cxnLst/>
            <a:rect l="l" t="t" r="r" b="b"/>
            <a:pathLst>
              <a:path w="1343326" h="4734190">
                <a:moveTo>
                  <a:pt x="0" y="0"/>
                </a:moveTo>
                <a:lnTo>
                  <a:pt x="1343326" y="0"/>
                </a:lnTo>
                <a:lnTo>
                  <a:pt x="1343326" y="4734190"/>
                </a:lnTo>
                <a:lnTo>
                  <a:pt x="0" y="4734190"/>
                </a:lnTo>
                <a:lnTo>
                  <a:pt x="0" y="0"/>
                </a:lnTo>
                <a:close/>
              </a:path>
            </a:pathLst>
          </a:custGeom>
          <a:blipFill>
            <a:blip r:embed="rId3"/>
            <a:stretch>
              <a:fillRect/>
            </a:stretch>
          </a:blipFill>
        </p:spPr>
        <p:txBody>
          <a:bodyPr/>
          <a:lstStyle/>
          <a:p>
            <a:endParaRPr lang="en-US"/>
          </a:p>
        </p:txBody>
      </p:sp>
      <p:sp>
        <p:nvSpPr>
          <p:cNvPr id="5" name="Freeform 5"/>
          <p:cNvSpPr/>
          <p:nvPr/>
        </p:nvSpPr>
        <p:spPr>
          <a:xfrm>
            <a:off x="15234733" y="0"/>
            <a:ext cx="3044931" cy="1753992"/>
          </a:xfrm>
          <a:custGeom>
            <a:avLst/>
            <a:gdLst/>
            <a:ahLst/>
            <a:cxnLst/>
            <a:rect l="l" t="t" r="r" b="b"/>
            <a:pathLst>
              <a:path w="3044931" h="1753992">
                <a:moveTo>
                  <a:pt x="0" y="0"/>
                </a:moveTo>
                <a:lnTo>
                  <a:pt x="3044931" y="0"/>
                </a:lnTo>
                <a:lnTo>
                  <a:pt x="3044931" y="1753992"/>
                </a:lnTo>
                <a:lnTo>
                  <a:pt x="0" y="1753992"/>
                </a:lnTo>
                <a:lnTo>
                  <a:pt x="0" y="0"/>
                </a:lnTo>
                <a:close/>
              </a:path>
            </a:pathLst>
          </a:custGeom>
          <a:blipFill>
            <a:blip r:embed="rId4"/>
            <a:stretch>
              <a:fillRect/>
            </a:stretch>
          </a:blipFill>
        </p:spPr>
        <p:txBody>
          <a:bodyPr/>
          <a:lstStyle/>
          <a:p>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15234733" y="0"/>
            <a:ext cx="3044931" cy="1753992"/>
          </a:xfrm>
          <a:custGeom>
            <a:avLst/>
            <a:gdLst/>
            <a:ahLst/>
            <a:cxnLst/>
            <a:rect l="l" t="t" r="r" b="b"/>
            <a:pathLst>
              <a:path w="3044931" h="1753992">
                <a:moveTo>
                  <a:pt x="0" y="0"/>
                </a:moveTo>
                <a:lnTo>
                  <a:pt x="3044931" y="0"/>
                </a:lnTo>
                <a:lnTo>
                  <a:pt x="3044931" y="1753992"/>
                </a:lnTo>
                <a:lnTo>
                  <a:pt x="0" y="1753992"/>
                </a:lnTo>
                <a:lnTo>
                  <a:pt x="0" y="0"/>
                </a:lnTo>
                <a:close/>
              </a:path>
            </a:pathLst>
          </a:custGeom>
          <a:blipFill>
            <a:blip r:embed="rId2"/>
            <a:stretch>
              <a:fillRect/>
            </a:stretch>
          </a:blipFill>
        </p:spPr>
        <p:txBody>
          <a:bodyPr/>
          <a:lstStyle/>
          <a:p>
            <a:endParaRPr lang="en-US"/>
          </a:p>
        </p:txBody>
      </p:sp>
      <p:sp>
        <p:nvSpPr>
          <p:cNvPr id="3" name="Freeform 3"/>
          <p:cNvSpPr/>
          <p:nvPr/>
        </p:nvSpPr>
        <p:spPr>
          <a:xfrm>
            <a:off x="9772098" y="3194963"/>
            <a:ext cx="6985101" cy="5404420"/>
          </a:xfrm>
          <a:custGeom>
            <a:avLst/>
            <a:gdLst/>
            <a:ahLst/>
            <a:cxnLst/>
            <a:rect l="l" t="t" r="r" b="b"/>
            <a:pathLst>
              <a:path w="6985101" h="5404420">
                <a:moveTo>
                  <a:pt x="0" y="0"/>
                </a:moveTo>
                <a:lnTo>
                  <a:pt x="6985100" y="0"/>
                </a:lnTo>
                <a:lnTo>
                  <a:pt x="6985100" y="5404421"/>
                </a:lnTo>
                <a:lnTo>
                  <a:pt x="0" y="5404421"/>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396002" y="4706548"/>
            <a:ext cx="8747998" cy="1190625"/>
          </a:xfrm>
          <a:prstGeom prst="rect">
            <a:avLst/>
          </a:prstGeom>
        </p:spPr>
        <p:txBody>
          <a:bodyPr lIns="0" tIns="0" rIns="0" bIns="0" rtlCol="0" anchor="t">
            <a:spAutoFit/>
          </a:bodyPr>
          <a:lstStyle/>
          <a:p>
            <a:pPr algn="ctr">
              <a:lnSpc>
                <a:spcPts val="9480"/>
              </a:lnSpc>
              <a:spcBef>
                <a:spcPct val="0"/>
              </a:spcBef>
            </a:pPr>
            <a:r>
              <a:rPr lang="en-US" sz="7900">
                <a:solidFill>
                  <a:srgbClr val="FFFFFF"/>
                </a:solidFill>
                <a:latin typeface="Poppins Medium"/>
                <a:ea typeface="Poppins Medium"/>
                <a:cs typeface="Poppins Medium"/>
                <a:sym typeface="Poppins Medium"/>
              </a:rPr>
              <a:t>ĐỊNH TUYẾN OSPF</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15234733" y="0"/>
            <a:ext cx="3044931" cy="1753992"/>
          </a:xfrm>
          <a:custGeom>
            <a:avLst/>
            <a:gdLst/>
            <a:ahLst/>
            <a:cxnLst/>
            <a:rect l="l" t="t" r="r" b="b"/>
            <a:pathLst>
              <a:path w="3044931" h="1753992">
                <a:moveTo>
                  <a:pt x="0" y="0"/>
                </a:moveTo>
                <a:lnTo>
                  <a:pt x="3044931" y="0"/>
                </a:lnTo>
                <a:lnTo>
                  <a:pt x="3044931" y="1753992"/>
                </a:lnTo>
                <a:lnTo>
                  <a:pt x="0" y="1753992"/>
                </a:lnTo>
                <a:lnTo>
                  <a:pt x="0" y="0"/>
                </a:lnTo>
                <a:close/>
              </a:path>
            </a:pathLst>
          </a:custGeom>
          <a:blipFill>
            <a:blip r:embed="rId2"/>
            <a:stretch>
              <a:fillRect/>
            </a:stretch>
          </a:blipFill>
        </p:spPr>
        <p:txBody>
          <a:bodyPr/>
          <a:lstStyle/>
          <a:p>
            <a:endParaRPr lang="en-US"/>
          </a:p>
        </p:txBody>
      </p:sp>
      <p:sp>
        <p:nvSpPr>
          <p:cNvPr id="3" name="Freeform 3"/>
          <p:cNvSpPr/>
          <p:nvPr/>
        </p:nvSpPr>
        <p:spPr>
          <a:xfrm>
            <a:off x="11573370" y="2354067"/>
            <a:ext cx="2441645" cy="7012405"/>
          </a:xfrm>
          <a:custGeom>
            <a:avLst/>
            <a:gdLst/>
            <a:ahLst/>
            <a:cxnLst/>
            <a:rect l="l" t="t" r="r" b="b"/>
            <a:pathLst>
              <a:path w="2441645" h="7012405">
                <a:moveTo>
                  <a:pt x="0" y="0"/>
                </a:moveTo>
                <a:lnTo>
                  <a:pt x="2441645" y="0"/>
                </a:lnTo>
                <a:lnTo>
                  <a:pt x="2441645" y="7012406"/>
                </a:lnTo>
                <a:lnTo>
                  <a:pt x="0" y="7012406"/>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1676730" y="2894013"/>
            <a:ext cx="7467270" cy="5856315"/>
          </a:xfrm>
          <a:prstGeom prst="rect">
            <a:avLst/>
          </a:prstGeom>
        </p:spPr>
        <p:txBody>
          <a:bodyPr lIns="0" tIns="0" rIns="0" bIns="0" rtlCol="0" anchor="t">
            <a:spAutoFit/>
          </a:bodyPr>
          <a:lstStyle/>
          <a:p>
            <a:pPr marL="509210" lvl="1" indent="-254605" algn="l">
              <a:lnSpc>
                <a:spcPts val="3467"/>
              </a:lnSpc>
              <a:buFont typeface="Arial"/>
              <a:buChar char="•"/>
            </a:pPr>
            <a:r>
              <a:rPr lang="en-US" sz="2358" b="1" spc="11">
                <a:solidFill>
                  <a:srgbClr val="FFFFFF"/>
                </a:solidFill>
                <a:latin typeface="Arimo Bold"/>
                <a:ea typeface="Arimo Bold"/>
                <a:cs typeface="Arimo Bold"/>
                <a:sym typeface="Arimo Bold"/>
              </a:rPr>
              <a:t>DHCP Snooping có thể hiểu như một tính năng tường lửa bảo bật giúp ngăn chặn các cuộc tấn công của tin tặc vào hệ thống mạng của doanh nghiệp đánh cắp các thông tin quan trọng. DHCP Snooping sẽ giúp bạn ngăn chặn các cuộc tấn công này, khi chế độ này kích hoạt các cổng trên switch sẽ phân loại thành các cổng tin cậy và không tin cậy. </a:t>
            </a:r>
          </a:p>
          <a:p>
            <a:pPr algn="l">
              <a:lnSpc>
                <a:spcPts val="3467"/>
              </a:lnSpc>
            </a:pPr>
            <a:endParaRPr lang="en-US" sz="2358" b="1" spc="11">
              <a:solidFill>
                <a:srgbClr val="FFFFFF"/>
              </a:solidFill>
              <a:latin typeface="Arimo Bold"/>
              <a:ea typeface="Arimo Bold"/>
              <a:cs typeface="Arimo Bold"/>
              <a:sym typeface="Arimo Bold"/>
            </a:endParaRPr>
          </a:p>
          <a:p>
            <a:pPr marL="509210" lvl="1" indent="-254605" algn="l">
              <a:lnSpc>
                <a:spcPts val="3868"/>
              </a:lnSpc>
              <a:buFont typeface="Arial"/>
              <a:buChar char="•"/>
            </a:pPr>
            <a:r>
              <a:rPr lang="en-US" sz="2358" b="1" spc="11">
                <a:solidFill>
                  <a:srgbClr val="FFFFFF"/>
                </a:solidFill>
                <a:latin typeface="Arimo Bold"/>
                <a:ea typeface="Arimo Bold"/>
                <a:cs typeface="Arimo Bold"/>
                <a:sym typeface="Arimo Bold"/>
              </a:rPr>
              <a:t>Các cổng tin cậy sẽ cho phép nhận DHCP Reply và được gắn với Sever DHCP còn đối với các cổng không tin cậy nó chỉ cho phép nhận DHCP Request gắn với máy tính người dùng.</a:t>
            </a:r>
          </a:p>
        </p:txBody>
      </p:sp>
      <p:sp>
        <p:nvSpPr>
          <p:cNvPr id="5" name="TextBox 5"/>
          <p:cNvSpPr txBox="1"/>
          <p:nvPr/>
        </p:nvSpPr>
        <p:spPr>
          <a:xfrm>
            <a:off x="452476" y="1163442"/>
            <a:ext cx="9453523" cy="1218282"/>
          </a:xfrm>
          <a:prstGeom prst="rect">
            <a:avLst/>
          </a:prstGeom>
        </p:spPr>
        <p:txBody>
          <a:bodyPr wrap="square" lIns="0" tIns="0" rIns="0" bIns="0" rtlCol="0" anchor="t">
            <a:spAutoFit/>
          </a:bodyPr>
          <a:lstStyle/>
          <a:p>
            <a:pPr algn="ctr">
              <a:lnSpc>
                <a:spcPts val="9480"/>
              </a:lnSpc>
              <a:spcBef>
                <a:spcPct val="0"/>
              </a:spcBef>
            </a:pPr>
            <a:r>
              <a:rPr lang="en-US" sz="7900" b="1">
                <a:solidFill>
                  <a:srgbClr val="FFFFFF"/>
                </a:solidFill>
                <a:latin typeface="Poppins Medium Bold"/>
                <a:ea typeface="Poppins Medium Bold"/>
                <a:cs typeface="Poppins Medium Bold"/>
                <a:sym typeface="Poppins Medium Bold"/>
              </a:rPr>
              <a:t>DHCP SNOOPING</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15234733" y="0"/>
            <a:ext cx="3044931" cy="1753992"/>
          </a:xfrm>
          <a:custGeom>
            <a:avLst/>
            <a:gdLst/>
            <a:ahLst/>
            <a:cxnLst/>
            <a:rect l="l" t="t" r="r" b="b"/>
            <a:pathLst>
              <a:path w="3044931" h="1753992">
                <a:moveTo>
                  <a:pt x="0" y="0"/>
                </a:moveTo>
                <a:lnTo>
                  <a:pt x="3044931" y="0"/>
                </a:lnTo>
                <a:lnTo>
                  <a:pt x="3044931" y="1753992"/>
                </a:lnTo>
                <a:lnTo>
                  <a:pt x="0" y="1753992"/>
                </a:lnTo>
                <a:lnTo>
                  <a:pt x="0" y="0"/>
                </a:lnTo>
                <a:close/>
              </a:path>
            </a:pathLst>
          </a:custGeom>
          <a:blipFill>
            <a:blip r:embed="rId2"/>
            <a:stretch>
              <a:fillRect/>
            </a:stretch>
          </a:blipFill>
        </p:spPr>
        <p:txBody>
          <a:bodyPr/>
          <a:lstStyle/>
          <a:p>
            <a:endParaRPr lang="en-US"/>
          </a:p>
        </p:txBody>
      </p:sp>
      <p:sp>
        <p:nvSpPr>
          <p:cNvPr id="3" name="Freeform 3"/>
          <p:cNvSpPr/>
          <p:nvPr/>
        </p:nvSpPr>
        <p:spPr>
          <a:xfrm>
            <a:off x="11573370" y="2354067"/>
            <a:ext cx="2441645" cy="7012405"/>
          </a:xfrm>
          <a:custGeom>
            <a:avLst/>
            <a:gdLst/>
            <a:ahLst/>
            <a:cxnLst/>
            <a:rect l="l" t="t" r="r" b="b"/>
            <a:pathLst>
              <a:path w="2441645" h="7012405">
                <a:moveTo>
                  <a:pt x="0" y="0"/>
                </a:moveTo>
                <a:lnTo>
                  <a:pt x="2441645" y="0"/>
                </a:lnTo>
                <a:lnTo>
                  <a:pt x="2441645" y="7012406"/>
                </a:lnTo>
                <a:lnTo>
                  <a:pt x="0" y="7012406"/>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609600" y="1163442"/>
            <a:ext cx="9868410" cy="1218282"/>
          </a:xfrm>
          <a:prstGeom prst="rect">
            <a:avLst/>
          </a:prstGeom>
        </p:spPr>
        <p:txBody>
          <a:bodyPr wrap="square" lIns="0" tIns="0" rIns="0" bIns="0" rtlCol="0" anchor="t">
            <a:spAutoFit/>
          </a:bodyPr>
          <a:lstStyle/>
          <a:p>
            <a:pPr algn="ctr">
              <a:lnSpc>
                <a:spcPts val="9480"/>
              </a:lnSpc>
              <a:spcBef>
                <a:spcPct val="0"/>
              </a:spcBef>
            </a:pPr>
            <a:r>
              <a:rPr lang="en-US" sz="7900" b="1">
                <a:solidFill>
                  <a:srgbClr val="FFFFFF"/>
                </a:solidFill>
                <a:latin typeface="Poppins Medium Bold"/>
                <a:ea typeface="Poppins Medium Bold"/>
                <a:cs typeface="Poppins Medium Bold"/>
                <a:sym typeface="Poppins Medium Bold"/>
              </a:rPr>
              <a:t>DHCP SNOOPING</a:t>
            </a:r>
          </a:p>
        </p:txBody>
      </p:sp>
      <p:sp>
        <p:nvSpPr>
          <p:cNvPr id="5" name="TextBox 5"/>
          <p:cNvSpPr txBox="1"/>
          <p:nvPr/>
        </p:nvSpPr>
        <p:spPr>
          <a:xfrm>
            <a:off x="2552185" y="3955270"/>
            <a:ext cx="7925825" cy="3790950"/>
          </a:xfrm>
          <a:prstGeom prst="rect">
            <a:avLst/>
          </a:prstGeom>
        </p:spPr>
        <p:txBody>
          <a:bodyPr lIns="0" tIns="0" rIns="0" bIns="0" rtlCol="0" anchor="t">
            <a:spAutoFit/>
          </a:bodyPr>
          <a:lstStyle/>
          <a:p>
            <a:pPr algn="l">
              <a:lnSpc>
                <a:spcPts val="3359"/>
              </a:lnSpc>
              <a:spcBef>
                <a:spcPct val="0"/>
              </a:spcBef>
            </a:pPr>
            <a:r>
              <a:rPr lang="en-US" sz="2799" b="1">
                <a:solidFill>
                  <a:srgbClr val="FFFFFF"/>
                </a:solidFill>
                <a:latin typeface="Arimo Bold"/>
                <a:ea typeface="Arimo Bold"/>
                <a:cs typeface="Arimo Bold"/>
                <a:sym typeface="Arimo Bold"/>
              </a:rPr>
              <a:t>Cấu hình DHCP Snooping </a:t>
            </a:r>
          </a:p>
          <a:p>
            <a:pPr marL="604513" lvl="1" indent="-302256" algn="l">
              <a:lnSpc>
                <a:spcPts val="3359"/>
              </a:lnSpc>
              <a:buFont typeface="Arial"/>
              <a:buChar char="•"/>
            </a:pPr>
            <a:r>
              <a:rPr lang="en-US" sz="2799" b="1">
                <a:solidFill>
                  <a:srgbClr val="FFFFFF"/>
                </a:solidFill>
                <a:latin typeface="Arimo Bold"/>
                <a:ea typeface="Arimo Bold"/>
                <a:cs typeface="Arimo Bold"/>
                <a:sym typeface="Arimo Bold"/>
              </a:rPr>
              <a:t>Ip dhcp snooping </a:t>
            </a:r>
          </a:p>
          <a:p>
            <a:pPr marL="604513" lvl="1" indent="-302256" algn="l">
              <a:lnSpc>
                <a:spcPts val="3359"/>
              </a:lnSpc>
              <a:buFont typeface="Arial"/>
              <a:buChar char="•"/>
            </a:pPr>
            <a:r>
              <a:rPr lang="en-US" sz="2799" b="1">
                <a:solidFill>
                  <a:srgbClr val="FFFFFF"/>
                </a:solidFill>
                <a:latin typeface="Arimo Bold"/>
                <a:ea typeface="Arimo Bold"/>
                <a:cs typeface="Arimo Bold"/>
                <a:sym typeface="Arimo Bold"/>
              </a:rPr>
              <a:t>Ip dhcp snooping vlan 10</a:t>
            </a:r>
          </a:p>
          <a:p>
            <a:pPr marL="604513" lvl="1" indent="-302256" algn="l">
              <a:lnSpc>
                <a:spcPts val="3359"/>
              </a:lnSpc>
              <a:buFont typeface="Arial"/>
              <a:buChar char="•"/>
            </a:pPr>
            <a:r>
              <a:rPr lang="en-US" sz="2799" b="1">
                <a:solidFill>
                  <a:srgbClr val="FFFFFF"/>
                </a:solidFill>
                <a:latin typeface="Arimo Bold"/>
                <a:ea typeface="Arimo Bold"/>
                <a:cs typeface="Arimo Bold"/>
                <a:sym typeface="Arimo Bold"/>
              </a:rPr>
              <a:t>Ip dhcp snooping vlan 20</a:t>
            </a:r>
          </a:p>
          <a:p>
            <a:pPr marL="604513" lvl="1" indent="-302256" algn="l">
              <a:lnSpc>
                <a:spcPts val="3359"/>
              </a:lnSpc>
              <a:buFont typeface="Arial"/>
              <a:buChar char="•"/>
            </a:pPr>
            <a:r>
              <a:rPr lang="en-US" sz="2799" b="1">
                <a:solidFill>
                  <a:srgbClr val="FFFFFF"/>
                </a:solidFill>
                <a:latin typeface="Arimo Bold"/>
                <a:ea typeface="Arimo Bold"/>
                <a:cs typeface="Arimo Bold"/>
                <a:sym typeface="Arimo Bold"/>
              </a:rPr>
              <a:t>Ip dhcp snooping vlan 30</a:t>
            </a:r>
          </a:p>
          <a:p>
            <a:pPr marL="604513" lvl="1" indent="-302256" algn="l">
              <a:lnSpc>
                <a:spcPts val="3359"/>
              </a:lnSpc>
              <a:buFont typeface="Arial"/>
              <a:buChar char="•"/>
            </a:pPr>
            <a:r>
              <a:rPr lang="en-US" sz="2799" b="1">
                <a:solidFill>
                  <a:srgbClr val="FFFFFF"/>
                </a:solidFill>
                <a:latin typeface="Arimo Bold"/>
                <a:ea typeface="Arimo Bold"/>
                <a:cs typeface="Arimo Bold"/>
                <a:sym typeface="Arimo Bold"/>
              </a:rPr>
              <a:t>Ip dhcp snooping vlan 40</a:t>
            </a:r>
          </a:p>
          <a:p>
            <a:pPr marL="604513" lvl="1" indent="-302256" algn="l">
              <a:lnSpc>
                <a:spcPts val="3359"/>
              </a:lnSpc>
              <a:buFont typeface="Arial"/>
              <a:buChar char="•"/>
            </a:pPr>
            <a:r>
              <a:rPr lang="en-US" sz="2799" b="1">
                <a:solidFill>
                  <a:srgbClr val="FFFFFF"/>
                </a:solidFill>
                <a:latin typeface="Arimo Bold"/>
                <a:ea typeface="Arimo Bold"/>
                <a:cs typeface="Arimo Bold"/>
                <a:sym typeface="Arimo Bold"/>
              </a:rPr>
              <a:t>ip dhcp snooping information option</a:t>
            </a:r>
          </a:p>
          <a:p>
            <a:pPr marL="604513" lvl="1" indent="-302256" algn="l">
              <a:lnSpc>
                <a:spcPts val="3359"/>
              </a:lnSpc>
              <a:buFont typeface="Arial"/>
              <a:buChar char="•"/>
            </a:pPr>
            <a:r>
              <a:rPr lang="en-US" sz="2799" b="1">
                <a:solidFill>
                  <a:srgbClr val="FFFFFF"/>
                </a:solidFill>
                <a:latin typeface="Arimo Bold"/>
                <a:ea typeface="Arimo Bold"/>
                <a:cs typeface="Arimo Bold"/>
                <a:sym typeface="Arimo Bold"/>
              </a:rPr>
              <a:t>Int range f0/1-5</a:t>
            </a:r>
          </a:p>
          <a:p>
            <a:pPr marL="604513" lvl="1" indent="-302256" algn="l">
              <a:lnSpc>
                <a:spcPts val="3359"/>
              </a:lnSpc>
              <a:buFont typeface="Arial"/>
              <a:buChar char="•"/>
            </a:pPr>
            <a:r>
              <a:rPr lang="en-US" sz="2799" b="1">
                <a:solidFill>
                  <a:srgbClr val="FFFFFF"/>
                </a:solidFill>
                <a:latin typeface="Arimo Bold"/>
                <a:ea typeface="Arimo Bold"/>
                <a:cs typeface="Arimo Bold"/>
                <a:sym typeface="Arimo Bold"/>
              </a:rPr>
              <a:t>Ip dhcp snooping trust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15234733" y="0"/>
            <a:ext cx="3044931" cy="1753992"/>
          </a:xfrm>
          <a:custGeom>
            <a:avLst/>
            <a:gdLst/>
            <a:ahLst/>
            <a:cxnLst/>
            <a:rect l="l" t="t" r="r" b="b"/>
            <a:pathLst>
              <a:path w="3044931" h="1753992">
                <a:moveTo>
                  <a:pt x="0" y="0"/>
                </a:moveTo>
                <a:lnTo>
                  <a:pt x="3044931" y="0"/>
                </a:lnTo>
                <a:lnTo>
                  <a:pt x="3044931" y="1753992"/>
                </a:lnTo>
                <a:lnTo>
                  <a:pt x="0" y="1753992"/>
                </a:lnTo>
                <a:lnTo>
                  <a:pt x="0" y="0"/>
                </a:lnTo>
                <a:close/>
              </a:path>
            </a:pathLst>
          </a:custGeom>
          <a:blipFill>
            <a:blip r:embed="rId2"/>
            <a:stretch>
              <a:fillRect/>
            </a:stretch>
          </a:blipFill>
        </p:spPr>
        <p:txBody>
          <a:bodyPr/>
          <a:lstStyle/>
          <a:p>
            <a:endParaRPr lang="en-US"/>
          </a:p>
        </p:txBody>
      </p:sp>
      <p:sp>
        <p:nvSpPr>
          <p:cNvPr id="3" name="Freeform 3"/>
          <p:cNvSpPr/>
          <p:nvPr/>
        </p:nvSpPr>
        <p:spPr>
          <a:xfrm>
            <a:off x="8746123" y="3716870"/>
            <a:ext cx="8973986" cy="3190340"/>
          </a:xfrm>
          <a:custGeom>
            <a:avLst/>
            <a:gdLst/>
            <a:ahLst/>
            <a:cxnLst/>
            <a:rect l="l" t="t" r="r" b="b"/>
            <a:pathLst>
              <a:path w="8973986" h="3190340">
                <a:moveTo>
                  <a:pt x="0" y="0"/>
                </a:moveTo>
                <a:lnTo>
                  <a:pt x="8973986" y="0"/>
                </a:lnTo>
                <a:lnTo>
                  <a:pt x="8973986" y="3190340"/>
                </a:lnTo>
                <a:lnTo>
                  <a:pt x="0" y="3190340"/>
                </a:lnTo>
                <a:lnTo>
                  <a:pt x="0" y="0"/>
                </a:lnTo>
                <a:close/>
              </a:path>
            </a:pathLst>
          </a:custGeom>
          <a:blipFill>
            <a:blip r:embed="rId3"/>
            <a:stretch>
              <a:fillRect l="-2868" r="-5476"/>
            </a:stretch>
          </a:blipFill>
        </p:spPr>
        <p:txBody>
          <a:bodyPr/>
          <a:lstStyle/>
          <a:p>
            <a:endParaRPr lang="en-US"/>
          </a:p>
        </p:txBody>
      </p:sp>
      <p:sp>
        <p:nvSpPr>
          <p:cNvPr id="4" name="TextBox 4"/>
          <p:cNvSpPr txBox="1"/>
          <p:nvPr/>
        </p:nvSpPr>
        <p:spPr>
          <a:xfrm>
            <a:off x="5887700" y="1163442"/>
            <a:ext cx="6735264" cy="1190625"/>
          </a:xfrm>
          <a:prstGeom prst="rect">
            <a:avLst/>
          </a:prstGeom>
        </p:spPr>
        <p:txBody>
          <a:bodyPr lIns="0" tIns="0" rIns="0" bIns="0" rtlCol="0" anchor="t">
            <a:spAutoFit/>
          </a:bodyPr>
          <a:lstStyle/>
          <a:p>
            <a:pPr algn="ctr">
              <a:lnSpc>
                <a:spcPts val="9480"/>
              </a:lnSpc>
              <a:spcBef>
                <a:spcPct val="0"/>
              </a:spcBef>
            </a:pPr>
            <a:r>
              <a:rPr lang="en-US" sz="7900" b="1">
                <a:solidFill>
                  <a:srgbClr val="FFFFFF"/>
                </a:solidFill>
                <a:latin typeface="Poppins Medium Bold"/>
                <a:ea typeface="Poppins Medium Bold"/>
                <a:cs typeface="Poppins Medium Bold"/>
                <a:sym typeface="Poppins Medium Bold"/>
              </a:rPr>
              <a:t>Port security</a:t>
            </a:r>
          </a:p>
        </p:txBody>
      </p:sp>
      <p:sp>
        <p:nvSpPr>
          <p:cNvPr id="5" name="TextBox 5"/>
          <p:cNvSpPr txBox="1"/>
          <p:nvPr/>
        </p:nvSpPr>
        <p:spPr>
          <a:xfrm>
            <a:off x="818517" y="3757612"/>
            <a:ext cx="8948944" cy="2752725"/>
          </a:xfrm>
          <a:prstGeom prst="rect">
            <a:avLst/>
          </a:prstGeom>
        </p:spPr>
        <p:txBody>
          <a:bodyPr lIns="0" tIns="0" rIns="0" bIns="0" rtlCol="0" anchor="t">
            <a:spAutoFit/>
          </a:bodyPr>
          <a:lstStyle/>
          <a:p>
            <a:pPr algn="l">
              <a:lnSpc>
                <a:spcPts val="3119"/>
              </a:lnSpc>
            </a:pPr>
            <a:r>
              <a:rPr lang="en-US" sz="2599" b="1">
                <a:solidFill>
                  <a:srgbClr val="FFFFFF"/>
                </a:solidFill>
                <a:latin typeface="Arimo Bold"/>
                <a:ea typeface="Arimo Bold"/>
                <a:cs typeface="Arimo Bold"/>
                <a:sym typeface="Arimo Bold"/>
              </a:rPr>
              <a:t>Cấu hình : Port-security</a:t>
            </a:r>
          </a:p>
          <a:p>
            <a:pPr marL="561334" lvl="1" indent="-280667" algn="l">
              <a:lnSpc>
                <a:spcPts val="3119"/>
              </a:lnSpc>
              <a:buFont typeface="Arial"/>
              <a:buChar char="•"/>
            </a:pPr>
            <a:r>
              <a:rPr lang="en-US" sz="2599" b="1">
                <a:solidFill>
                  <a:srgbClr val="FFFFFF"/>
                </a:solidFill>
                <a:latin typeface="Arimo Bold"/>
                <a:ea typeface="Arimo Bold"/>
                <a:cs typeface="Arimo Bold"/>
                <a:sym typeface="Arimo Bold"/>
              </a:rPr>
              <a:t>interface range fa0/4-5</a:t>
            </a:r>
          </a:p>
          <a:p>
            <a:pPr marL="561334" lvl="1" indent="-280667" algn="l">
              <a:lnSpc>
                <a:spcPts val="3119"/>
              </a:lnSpc>
              <a:buFont typeface="Arial"/>
              <a:buChar char="•"/>
            </a:pPr>
            <a:r>
              <a:rPr lang="en-US" sz="2599" b="1">
                <a:solidFill>
                  <a:srgbClr val="FFFFFF"/>
                </a:solidFill>
                <a:latin typeface="Arimo Bold"/>
                <a:ea typeface="Arimo Bold"/>
                <a:cs typeface="Arimo Bold"/>
                <a:sym typeface="Arimo Bold"/>
              </a:rPr>
              <a:t>switchport mode access</a:t>
            </a:r>
          </a:p>
          <a:p>
            <a:pPr marL="561334" lvl="1" indent="-280667" algn="l">
              <a:lnSpc>
                <a:spcPts val="3119"/>
              </a:lnSpc>
              <a:buFont typeface="Arial"/>
              <a:buChar char="•"/>
            </a:pPr>
            <a:r>
              <a:rPr lang="en-US" sz="2599" b="1">
                <a:solidFill>
                  <a:srgbClr val="FFFFFF"/>
                </a:solidFill>
                <a:latin typeface="Arimo Bold"/>
                <a:ea typeface="Arimo Bold"/>
                <a:cs typeface="Arimo Bold"/>
                <a:sym typeface="Arimo Bold"/>
              </a:rPr>
              <a:t>switchport port-security</a:t>
            </a:r>
          </a:p>
          <a:p>
            <a:pPr marL="561334" lvl="1" indent="-280667" algn="l">
              <a:lnSpc>
                <a:spcPts val="3119"/>
              </a:lnSpc>
              <a:buFont typeface="Arial"/>
              <a:buChar char="•"/>
            </a:pPr>
            <a:r>
              <a:rPr lang="en-US" sz="2599" b="1">
                <a:solidFill>
                  <a:srgbClr val="FFFFFF"/>
                </a:solidFill>
                <a:latin typeface="Arimo Bold"/>
                <a:ea typeface="Arimo Bold"/>
                <a:cs typeface="Arimo Bold"/>
                <a:sym typeface="Arimo Bold"/>
              </a:rPr>
              <a:t>switchport port-security maximum 1</a:t>
            </a:r>
          </a:p>
          <a:p>
            <a:pPr marL="561334" lvl="1" indent="-280667" algn="l">
              <a:lnSpc>
                <a:spcPts val="3119"/>
              </a:lnSpc>
              <a:buFont typeface="Arial"/>
              <a:buChar char="•"/>
            </a:pPr>
            <a:r>
              <a:rPr lang="en-US" sz="2599" b="1">
                <a:solidFill>
                  <a:srgbClr val="FFFFFF"/>
                </a:solidFill>
                <a:latin typeface="Arimo Bold"/>
                <a:ea typeface="Arimo Bold"/>
                <a:cs typeface="Arimo Bold"/>
                <a:sym typeface="Arimo Bold"/>
              </a:rPr>
              <a:t>switchport port-security mac-address sticky</a:t>
            </a:r>
          </a:p>
          <a:p>
            <a:pPr marL="561334" lvl="1" indent="-280667" algn="l">
              <a:lnSpc>
                <a:spcPts val="3119"/>
              </a:lnSpc>
              <a:buFont typeface="Arial"/>
              <a:buChar char="•"/>
            </a:pPr>
            <a:r>
              <a:rPr lang="en-US" sz="2599" b="1">
                <a:solidFill>
                  <a:srgbClr val="FFFFFF"/>
                </a:solidFill>
                <a:latin typeface="Arimo Bold"/>
                <a:ea typeface="Arimo Bold"/>
                <a:cs typeface="Arimo Bold"/>
                <a:sym typeface="Arimo Bold"/>
              </a:rPr>
              <a:t>switchport port-security violation restrict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15234733" y="0"/>
            <a:ext cx="3044931" cy="1753992"/>
          </a:xfrm>
          <a:custGeom>
            <a:avLst/>
            <a:gdLst/>
            <a:ahLst/>
            <a:cxnLst/>
            <a:rect l="l" t="t" r="r" b="b"/>
            <a:pathLst>
              <a:path w="3044931" h="1753992">
                <a:moveTo>
                  <a:pt x="0" y="0"/>
                </a:moveTo>
                <a:lnTo>
                  <a:pt x="3044931" y="0"/>
                </a:lnTo>
                <a:lnTo>
                  <a:pt x="3044931" y="1753992"/>
                </a:lnTo>
                <a:lnTo>
                  <a:pt x="0" y="1753992"/>
                </a:lnTo>
                <a:lnTo>
                  <a:pt x="0" y="0"/>
                </a:lnTo>
                <a:close/>
              </a:path>
            </a:pathLst>
          </a:custGeom>
          <a:blipFill>
            <a:blip r:embed="rId2"/>
            <a:stretch>
              <a:fillRect/>
            </a:stretch>
          </a:blipFill>
        </p:spPr>
        <p:txBody>
          <a:bodyPr/>
          <a:lstStyle/>
          <a:p>
            <a:endParaRPr lang="en-US"/>
          </a:p>
        </p:txBody>
      </p:sp>
      <p:sp>
        <p:nvSpPr>
          <p:cNvPr id="3" name="Freeform 3"/>
          <p:cNvSpPr/>
          <p:nvPr/>
        </p:nvSpPr>
        <p:spPr>
          <a:xfrm>
            <a:off x="2847394" y="3899919"/>
            <a:ext cx="12593212" cy="3340046"/>
          </a:xfrm>
          <a:custGeom>
            <a:avLst/>
            <a:gdLst/>
            <a:ahLst/>
            <a:cxnLst/>
            <a:rect l="l" t="t" r="r" b="b"/>
            <a:pathLst>
              <a:path w="12593212" h="3340046">
                <a:moveTo>
                  <a:pt x="0" y="0"/>
                </a:moveTo>
                <a:lnTo>
                  <a:pt x="12593212" y="0"/>
                </a:lnTo>
                <a:lnTo>
                  <a:pt x="12593212" y="3340047"/>
                </a:lnTo>
                <a:lnTo>
                  <a:pt x="0" y="3340047"/>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3733890" y="1163442"/>
            <a:ext cx="10820221" cy="1190625"/>
          </a:xfrm>
          <a:prstGeom prst="rect">
            <a:avLst/>
          </a:prstGeom>
        </p:spPr>
        <p:txBody>
          <a:bodyPr lIns="0" tIns="0" rIns="0" bIns="0" rtlCol="0" anchor="t">
            <a:spAutoFit/>
          </a:bodyPr>
          <a:lstStyle/>
          <a:p>
            <a:pPr algn="ctr">
              <a:lnSpc>
                <a:spcPts val="9480"/>
              </a:lnSpc>
              <a:spcBef>
                <a:spcPct val="0"/>
              </a:spcBef>
            </a:pPr>
            <a:r>
              <a:rPr lang="en-US" sz="7900" b="1">
                <a:solidFill>
                  <a:srgbClr val="FFFFFF"/>
                </a:solidFill>
                <a:latin typeface="Poppins Medium Bold"/>
                <a:ea typeface="Poppins Medium Bold"/>
                <a:cs typeface="Poppins Medium Bold"/>
                <a:sym typeface="Poppins Medium Bold"/>
              </a:rPr>
              <a:t>Access Control List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15234733" y="0"/>
            <a:ext cx="3044931" cy="1753992"/>
          </a:xfrm>
          <a:custGeom>
            <a:avLst/>
            <a:gdLst/>
            <a:ahLst/>
            <a:cxnLst/>
            <a:rect l="l" t="t" r="r" b="b"/>
            <a:pathLst>
              <a:path w="3044931" h="1753992">
                <a:moveTo>
                  <a:pt x="0" y="0"/>
                </a:moveTo>
                <a:lnTo>
                  <a:pt x="3044931" y="0"/>
                </a:lnTo>
                <a:lnTo>
                  <a:pt x="3044931" y="1753992"/>
                </a:lnTo>
                <a:lnTo>
                  <a:pt x="0" y="1753992"/>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0" y="1163442"/>
            <a:ext cx="13043650" cy="1190625"/>
          </a:xfrm>
          <a:prstGeom prst="rect">
            <a:avLst/>
          </a:prstGeom>
        </p:spPr>
        <p:txBody>
          <a:bodyPr lIns="0" tIns="0" rIns="0" bIns="0" rtlCol="0" anchor="t">
            <a:spAutoFit/>
          </a:bodyPr>
          <a:lstStyle/>
          <a:p>
            <a:pPr algn="ctr">
              <a:lnSpc>
                <a:spcPts val="9480"/>
              </a:lnSpc>
              <a:spcBef>
                <a:spcPct val="0"/>
              </a:spcBef>
            </a:pPr>
            <a:r>
              <a:rPr lang="en-US" sz="7900" b="1">
                <a:solidFill>
                  <a:srgbClr val="FFFFFF"/>
                </a:solidFill>
                <a:latin typeface="Poppins Medium Bold"/>
                <a:ea typeface="Poppins Medium Bold"/>
                <a:cs typeface="Poppins Medium Bold"/>
                <a:sym typeface="Poppins Medium Bold"/>
              </a:rPr>
              <a:t>Console, VTY, Enable</a:t>
            </a:r>
          </a:p>
        </p:txBody>
      </p:sp>
      <p:sp>
        <p:nvSpPr>
          <p:cNvPr id="4" name="TextBox 4"/>
          <p:cNvSpPr txBox="1"/>
          <p:nvPr/>
        </p:nvSpPr>
        <p:spPr>
          <a:xfrm>
            <a:off x="2558215" y="3677765"/>
            <a:ext cx="11201162" cy="5162550"/>
          </a:xfrm>
          <a:prstGeom prst="rect">
            <a:avLst/>
          </a:prstGeom>
        </p:spPr>
        <p:txBody>
          <a:bodyPr lIns="0" tIns="0" rIns="0" bIns="0" rtlCol="0" anchor="t">
            <a:spAutoFit/>
          </a:bodyPr>
          <a:lstStyle/>
          <a:p>
            <a:pPr algn="l">
              <a:lnSpc>
                <a:spcPts val="4113"/>
              </a:lnSpc>
              <a:spcBef>
                <a:spcPct val="0"/>
              </a:spcBef>
            </a:pPr>
            <a:r>
              <a:rPr lang="en-US" sz="3427" b="1">
                <a:solidFill>
                  <a:srgbClr val="FFFFFF"/>
                </a:solidFill>
                <a:latin typeface="Arimo Bold"/>
                <a:ea typeface="Arimo Bold"/>
                <a:cs typeface="Arimo Bold"/>
                <a:sym typeface="Arimo Bold"/>
              </a:rPr>
              <a:t>line console 0</a:t>
            </a:r>
          </a:p>
          <a:p>
            <a:pPr algn="l">
              <a:lnSpc>
                <a:spcPts val="4113"/>
              </a:lnSpc>
              <a:spcBef>
                <a:spcPct val="0"/>
              </a:spcBef>
            </a:pPr>
            <a:r>
              <a:rPr lang="en-US" sz="3427" b="1">
                <a:solidFill>
                  <a:srgbClr val="FFFFFF"/>
                </a:solidFill>
                <a:latin typeface="Arimo Bold"/>
                <a:ea typeface="Arimo Bold"/>
                <a:cs typeface="Arimo Bold"/>
                <a:sym typeface="Arimo Bold"/>
              </a:rPr>
              <a:t>password cisco (Thiết lập password)</a:t>
            </a:r>
          </a:p>
          <a:p>
            <a:pPr algn="l">
              <a:lnSpc>
                <a:spcPts val="4113"/>
              </a:lnSpc>
              <a:spcBef>
                <a:spcPct val="0"/>
              </a:spcBef>
            </a:pPr>
            <a:r>
              <a:rPr lang="en-US" sz="3427" b="1">
                <a:solidFill>
                  <a:srgbClr val="FFFFFF"/>
                </a:solidFill>
                <a:latin typeface="Arimo Bold"/>
                <a:ea typeface="Arimo Bold"/>
                <a:cs typeface="Arimo Bold"/>
                <a:sym typeface="Arimo Bold"/>
              </a:rPr>
              <a:t>login</a:t>
            </a:r>
          </a:p>
          <a:p>
            <a:pPr algn="l">
              <a:lnSpc>
                <a:spcPts val="4113"/>
              </a:lnSpc>
              <a:spcBef>
                <a:spcPct val="0"/>
              </a:spcBef>
            </a:pPr>
            <a:endParaRPr lang="en-US" sz="3427" b="1">
              <a:solidFill>
                <a:srgbClr val="FFFFFF"/>
              </a:solidFill>
              <a:latin typeface="Arimo Bold"/>
              <a:ea typeface="Arimo Bold"/>
              <a:cs typeface="Arimo Bold"/>
              <a:sym typeface="Arimo Bold"/>
            </a:endParaRPr>
          </a:p>
          <a:p>
            <a:pPr algn="l">
              <a:lnSpc>
                <a:spcPts val="4113"/>
              </a:lnSpc>
              <a:spcBef>
                <a:spcPct val="0"/>
              </a:spcBef>
            </a:pPr>
            <a:r>
              <a:rPr lang="en-US" sz="3427" b="1">
                <a:solidFill>
                  <a:srgbClr val="FFFFFF"/>
                </a:solidFill>
                <a:latin typeface="Arimo Bold"/>
                <a:ea typeface="Arimo Bold"/>
                <a:cs typeface="Arimo Bold"/>
                <a:sym typeface="Arimo Bold"/>
              </a:rPr>
              <a:t>enable password Cisco1 (hoặc Cisco2 trên Sw-core-2)</a:t>
            </a:r>
          </a:p>
          <a:p>
            <a:pPr algn="l">
              <a:lnSpc>
                <a:spcPts val="4113"/>
              </a:lnSpc>
              <a:spcBef>
                <a:spcPct val="0"/>
              </a:spcBef>
            </a:pPr>
            <a:endParaRPr lang="en-US" sz="3427" b="1">
              <a:solidFill>
                <a:srgbClr val="FFFFFF"/>
              </a:solidFill>
              <a:latin typeface="Arimo Bold"/>
              <a:ea typeface="Arimo Bold"/>
              <a:cs typeface="Arimo Bold"/>
              <a:sym typeface="Arimo Bold"/>
            </a:endParaRPr>
          </a:p>
          <a:p>
            <a:pPr algn="l">
              <a:lnSpc>
                <a:spcPts val="4113"/>
              </a:lnSpc>
              <a:spcBef>
                <a:spcPct val="0"/>
              </a:spcBef>
            </a:pPr>
            <a:r>
              <a:rPr lang="en-US" sz="3427" b="1">
                <a:solidFill>
                  <a:srgbClr val="FFFFFF"/>
                </a:solidFill>
                <a:latin typeface="Arimo Bold"/>
                <a:ea typeface="Arimo Bold"/>
                <a:cs typeface="Arimo Bold"/>
                <a:sym typeface="Arimo Bold"/>
              </a:rPr>
              <a:t>line vty 0 4</a:t>
            </a:r>
          </a:p>
          <a:p>
            <a:pPr algn="l">
              <a:lnSpc>
                <a:spcPts val="4113"/>
              </a:lnSpc>
              <a:spcBef>
                <a:spcPct val="0"/>
              </a:spcBef>
            </a:pPr>
            <a:r>
              <a:rPr lang="en-US" sz="3427" b="1">
                <a:solidFill>
                  <a:srgbClr val="FFFFFF"/>
                </a:solidFill>
                <a:latin typeface="Arimo Bold"/>
                <a:ea typeface="Arimo Bold"/>
                <a:cs typeface="Arimo Bold"/>
                <a:sym typeface="Arimo Bold"/>
              </a:rPr>
              <a:t>password cisco</a:t>
            </a:r>
          </a:p>
          <a:p>
            <a:pPr algn="l">
              <a:lnSpc>
                <a:spcPts val="4113"/>
              </a:lnSpc>
              <a:spcBef>
                <a:spcPct val="0"/>
              </a:spcBef>
            </a:pPr>
            <a:r>
              <a:rPr lang="en-US" sz="3427" b="1">
                <a:solidFill>
                  <a:srgbClr val="FFFFFF"/>
                </a:solidFill>
                <a:latin typeface="Arimo Bold"/>
                <a:ea typeface="Arimo Bold"/>
                <a:cs typeface="Arimo Bold"/>
                <a:sym typeface="Arimo Bold"/>
              </a:rPr>
              <a:t>login local</a:t>
            </a:r>
          </a:p>
          <a:p>
            <a:pPr algn="l">
              <a:lnSpc>
                <a:spcPts val="4113"/>
              </a:lnSpc>
              <a:spcBef>
                <a:spcPct val="0"/>
              </a:spcBef>
            </a:pPr>
            <a:endParaRPr lang="en-US" sz="3427" b="1">
              <a:solidFill>
                <a:srgbClr val="FFFFFF"/>
              </a:solidFill>
              <a:latin typeface="Arimo Bold"/>
              <a:ea typeface="Arimo Bold"/>
              <a:cs typeface="Arimo Bold"/>
              <a:sym typeface="Arimo Bold"/>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15234733" y="0"/>
            <a:ext cx="3044931" cy="1753992"/>
          </a:xfrm>
          <a:custGeom>
            <a:avLst/>
            <a:gdLst/>
            <a:ahLst/>
            <a:cxnLst/>
            <a:rect l="l" t="t" r="r" b="b"/>
            <a:pathLst>
              <a:path w="3044931" h="1753992">
                <a:moveTo>
                  <a:pt x="0" y="0"/>
                </a:moveTo>
                <a:lnTo>
                  <a:pt x="3044931" y="0"/>
                </a:lnTo>
                <a:lnTo>
                  <a:pt x="3044931" y="1753992"/>
                </a:lnTo>
                <a:lnTo>
                  <a:pt x="0" y="1753992"/>
                </a:lnTo>
                <a:lnTo>
                  <a:pt x="0" y="0"/>
                </a:lnTo>
                <a:close/>
              </a:path>
            </a:pathLst>
          </a:custGeom>
          <a:blipFill>
            <a:blip r:embed="rId2"/>
            <a:stretch>
              <a:fillRect/>
            </a:stretch>
          </a:blipFill>
        </p:spPr>
        <p:txBody>
          <a:bodyPr/>
          <a:lstStyle/>
          <a:p>
            <a:endParaRPr lang="en-US"/>
          </a:p>
        </p:txBody>
      </p:sp>
      <p:sp>
        <p:nvSpPr>
          <p:cNvPr id="3" name="Freeform 3"/>
          <p:cNvSpPr/>
          <p:nvPr/>
        </p:nvSpPr>
        <p:spPr>
          <a:xfrm>
            <a:off x="10809969" y="1753992"/>
            <a:ext cx="3194575" cy="7442111"/>
          </a:xfrm>
          <a:custGeom>
            <a:avLst/>
            <a:gdLst/>
            <a:ahLst/>
            <a:cxnLst/>
            <a:rect l="l" t="t" r="r" b="b"/>
            <a:pathLst>
              <a:path w="3194575" h="7442111">
                <a:moveTo>
                  <a:pt x="0" y="0"/>
                </a:moveTo>
                <a:lnTo>
                  <a:pt x="3194576" y="0"/>
                </a:lnTo>
                <a:lnTo>
                  <a:pt x="3194576" y="7442112"/>
                </a:lnTo>
                <a:lnTo>
                  <a:pt x="0" y="7442112"/>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1193631" y="4543425"/>
            <a:ext cx="8386151" cy="1171575"/>
          </a:xfrm>
          <a:prstGeom prst="rect">
            <a:avLst/>
          </a:prstGeom>
        </p:spPr>
        <p:txBody>
          <a:bodyPr lIns="0" tIns="0" rIns="0" bIns="0" rtlCol="0" anchor="t">
            <a:spAutoFit/>
          </a:bodyPr>
          <a:lstStyle/>
          <a:p>
            <a:pPr algn="ctr">
              <a:lnSpc>
                <a:spcPts val="9240"/>
              </a:lnSpc>
              <a:spcBef>
                <a:spcPct val="0"/>
              </a:spcBef>
            </a:pPr>
            <a:r>
              <a:rPr lang="en-US" sz="7700" b="1">
                <a:solidFill>
                  <a:srgbClr val="FFFFFF"/>
                </a:solidFill>
                <a:latin typeface="Poppins Medium Bold"/>
                <a:ea typeface="Poppins Medium Bold"/>
                <a:cs typeface="Poppins Medium Bold"/>
                <a:sym typeface="Poppins Medium Bold"/>
              </a:rPr>
              <a:t>HỆ THỐNG HSRP</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3018198" y="4373037"/>
            <a:ext cx="12251603" cy="1266825"/>
          </a:xfrm>
          <a:prstGeom prst="rect">
            <a:avLst/>
          </a:prstGeom>
        </p:spPr>
        <p:txBody>
          <a:bodyPr lIns="0" tIns="0" rIns="0" bIns="0" rtlCol="0" anchor="t">
            <a:spAutoFit/>
          </a:bodyPr>
          <a:lstStyle/>
          <a:p>
            <a:pPr algn="l">
              <a:lnSpc>
                <a:spcPts val="9989"/>
              </a:lnSpc>
            </a:pPr>
            <a:r>
              <a:rPr lang="en-US" sz="8324" b="1">
                <a:solidFill>
                  <a:srgbClr val="FFFFFF"/>
                </a:solidFill>
                <a:latin typeface="Poppins Medium Bold"/>
                <a:ea typeface="Poppins Medium Bold"/>
                <a:cs typeface="Poppins Medium Bold"/>
                <a:sym typeface="Poppins Medium Bold"/>
              </a:rPr>
              <a:t>MÔ PHỎNG WIFI MESH</a:t>
            </a:r>
          </a:p>
        </p:txBody>
      </p:sp>
      <p:sp>
        <p:nvSpPr>
          <p:cNvPr id="3" name="Freeform 3"/>
          <p:cNvSpPr/>
          <p:nvPr/>
        </p:nvSpPr>
        <p:spPr>
          <a:xfrm flipH="1" flipV="1">
            <a:off x="15130519" y="1753992"/>
            <a:ext cx="7641615" cy="5845836"/>
          </a:xfrm>
          <a:custGeom>
            <a:avLst/>
            <a:gdLst/>
            <a:ahLst/>
            <a:cxnLst/>
            <a:rect l="l" t="t" r="r" b="b"/>
            <a:pathLst>
              <a:path w="7641615" h="5845836">
                <a:moveTo>
                  <a:pt x="7641615" y="5845836"/>
                </a:moveTo>
                <a:lnTo>
                  <a:pt x="0" y="5845836"/>
                </a:lnTo>
                <a:lnTo>
                  <a:pt x="0" y="0"/>
                </a:lnTo>
                <a:lnTo>
                  <a:pt x="7641615" y="0"/>
                </a:lnTo>
                <a:lnTo>
                  <a:pt x="7641615" y="5845836"/>
                </a:lnTo>
                <a:close/>
              </a:path>
            </a:pathLst>
          </a:custGeom>
          <a:blipFill>
            <a:blip r:embed="rId2"/>
            <a:stretch>
              <a:fillRect/>
            </a:stretch>
          </a:blipFill>
        </p:spPr>
        <p:txBody>
          <a:bodyPr/>
          <a:lstStyle/>
          <a:p>
            <a:endParaRPr lang="en-US"/>
          </a:p>
        </p:txBody>
      </p:sp>
      <p:sp>
        <p:nvSpPr>
          <p:cNvPr id="4" name="Freeform 4"/>
          <p:cNvSpPr/>
          <p:nvPr/>
        </p:nvSpPr>
        <p:spPr>
          <a:xfrm>
            <a:off x="158694" y="2776405"/>
            <a:ext cx="1343326" cy="4734190"/>
          </a:xfrm>
          <a:custGeom>
            <a:avLst/>
            <a:gdLst/>
            <a:ahLst/>
            <a:cxnLst/>
            <a:rect l="l" t="t" r="r" b="b"/>
            <a:pathLst>
              <a:path w="1343326" h="4734190">
                <a:moveTo>
                  <a:pt x="0" y="0"/>
                </a:moveTo>
                <a:lnTo>
                  <a:pt x="1343326" y="0"/>
                </a:lnTo>
                <a:lnTo>
                  <a:pt x="1343326" y="4734190"/>
                </a:lnTo>
                <a:lnTo>
                  <a:pt x="0" y="4734190"/>
                </a:lnTo>
                <a:lnTo>
                  <a:pt x="0" y="0"/>
                </a:lnTo>
                <a:close/>
              </a:path>
            </a:pathLst>
          </a:custGeom>
          <a:blipFill>
            <a:blip r:embed="rId3"/>
            <a:stretch>
              <a:fillRect/>
            </a:stretch>
          </a:blipFill>
        </p:spPr>
        <p:txBody>
          <a:bodyPr/>
          <a:lstStyle/>
          <a:p>
            <a:endParaRPr lang="en-US"/>
          </a:p>
        </p:txBody>
      </p:sp>
      <p:sp>
        <p:nvSpPr>
          <p:cNvPr id="5" name="Freeform 5"/>
          <p:cNvSpPr/>
          <p:nvPr/>
        </p:nvSpPr>
        <p:spPr>
          <a:xfrm>
            <a:off x="15234733" y="0"/>
            <a:ext cx="3044931" cy="1753992"/>
          </a:xfrm>
          <a:custGeom>
            <a:avLst/>
            <a:gdLst/>
            <a:ahLst/>
            <a:cxnLst/>
            <a:rect l="l" t="t" r="r" b="b"/>
            <a:pathLst>
              <a:path w="3044931" h="1753992">
                <a:moveTo>
                  <a:pt x="0" y="0"/>
                </a:moveTo>
                <a:lnTo>
                  <a:pt x="3044931" y="0"/>
                </a:lnTo>
                <a:lnTo>
                  <a:pt x="3044931" y="1753992"/>
                </a:lnTo>
                <a:lnTo>
                  <a:pt x="0" y="1753992"/>
                </a:lnTo>
                <a:lnTo>
                  <a:pt x="0" y="0"/>
                </a:lnTo>
                <a:close/>
              </a:path>
            </a:pathLst>
          </a:custGeom>
          <a:blipFill>
            <a:blip r:embed="rId4"/>
            <a:stretch>
              <a:fillRect/>
            </a:stretch>
          </a:blipFill>
        </p:spPr>
        <p:txBody>
          <a:bodyPr/>
          <a:lstStyle/>
          <a:p>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15234733" y="0"/>
            <a:ext cx="3044931" cy="1753992"/>
          </a:xfrm>
          <a:custGeom>
            <a:avLst/>
            <a:gdLst/>
            <a:ahLst/>
            <a:cxnLst/>
            <a:rect l="l" t="t" r="r" b="b"/>
            <a:pathLst>
              <a:path w="3044931" h="1753992">
                <a:moveTo>
                  <a:pt x="0" y="0"/>
                </a:moveTo>
                <a:lnTo>
                  <a:pt x="3044931" y="0"/>
                </a:lnTo>
                <a:lnTo>
                  <a:pt x="3044931" y="1753992"/>
                </a:lnTo>
                <a:lnTo>
                  <a:pt x="0" y="1753992"/>
                </a:lnTo>
                <a:lnTo>
                  <a:pt x="0" y="0"/>
                </a:lnTo>
                <a:close/>
              </a:path>
            </a:pathLst>
          </a:custGeom>
          <a:blipFill>
            <a:blip r:embed="rId2"/>
            <a:stretch>
              <a:fillRect/>
            </a:stretch>
          </a:blipFill>
        </p:spPr>
        <p:txBody>
          <a:bodyPr/>
          <a:lstStyle/>
          <a:p>
            <a:endParaRPr lang="en-US"/>
          </a:p>
        </p:txBody>
      </p:sp>
      <p:sp>
        <p:nvSpPr>
          <p:cNvPr id="3" name="Freeform 3"/>
          <p:cNvSpPr/>
          <p:nvPr/>
        </p:nvSpPr>
        <p:spPr>
          <a:xfrm>
            <a:off x="10213820" y="1200749"/>
            <a:ext cx="4573591" cy="7885502"/>
          </a:xfrm>
          <a:custGeom>
            <a:avLst/>
            <a:gdLst/>
            <a:ahLst/>
            <a:cxnLst/>
            <a:rect l="l" t="t" r="r" b="b"/>
            <a:pathLst>
              <a:path w="4573591" h="7885502">
                <a:moveTo>
                  <a:pt x="0" y="0"/>
                </a:moveTo>
                <a:lnTo>
                  <a:pt x="4573591" y="0"/>
                </a:lnTo>
                <a:lnTo>
                  <a:pt x="4573591" y="7885502"/>
                </a:lnTo>
                <a:lnTo>
                  <a:pt x="0" y="7885502"/>
                </a:lnTo>
                <a:lnTo>
                  <a:pt x="0" y="0"/>
                </a:lnTo>
                <a:close/>
              </a:path>
            </a:pathLst>
          </a:custGeom>
          <a:blipFill>
            <a:blip r:embed="rId3"/>
            <a:stretch>
              <a:fillRect/>
            </a:stretch>
          </a:blipFill>
        </p:spPr>
        <p:txBody>
          <a:bodyPr/>
          <a:lstStyle/>
          <a:p>
            <a:endParaRPr lang="en-US"/>
          </a:p>
        </p:txBody>
      </p:sp>
      <p:sp>
        <p:nvSpPr>
          <p:cNvPr id="4" name="Freeform 4"/>
          <p:cNvSpPr/>
          <p:nvPr/>
        </p:nvSpPr>
        <p:spPr>
          <a:xfrm>
            <a:off x="1028700" y="2744548"/>
            <a:ext cx="8737799" cy="4797903"/>
          </a:xfrm>
          <a:custGeom>
            <a:avLst/>
            <a:gdLst/>
            <a:ahLst/>
            <a:cxnLst/>
            <a:rect l="l" t="t" r="r" b="b"/>
            <a:pathLst>
              <a:path w="8737799" h="4797903">
                <a:moveTo>
                  <a:pt x="0" y="0"/>
                </a:moveTo>
                <a:lnTo>
                  <a:pt x="8737799" y="0"/>
                </a:lnTo>
                <a:lnTo>
                  <a:pt x="8737799" y="4797904"/>
                </a:lnTo>
                <a:lnTo>
                  <a:pt x="0" y="4797904"/>
                </a:lnTo>
                <a:lnTo>
                  <a:pt x="0" y="0"/>
                </a:lnTo>
                <a:close/>
              </a:path>
            </a:pathLst>
          </a:custGeom>
          <a:blipFill>
            <a:blip r:embed="rId4"/>
            <a:stretch>
              <a:fillRect l="-28928" r="-11"/>
            </a:stretch>
          </a:blipFill>
        </p:spPr>
        <p:txBody>
          <a:bodyPr/>
          <a:lstStyle/>
          <a:p>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15234733" y="0"/>
            <a:ext cx="3044931" cy="1753992"/>
          </a:xfrm>
          <a:custGeom>
            <a:avLst/>
            <a:gdLst/>
            <a:ahLst/>
            <a:cxnLst/>
            <a:rect l="l" t="t" r="r" b="b"/>
            <a:pathLst>
              <a:path w="3044931" h="1753992">
                <a:moveTo>
                  <a:pt x="0" y="0"/>
                </a:moveTo>
                <a:lnTo>
                  <a:pt x="3044931" y="0"/>
                </a:lnTo>
                <a:lnTo>
                  <a:pt x="3044931" y="1753992"/>
                </a:lnTo>
                <a:lnTo>
                  <a:pt x="0" y="1753992"/>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1028700" y="1163442"/>
            <a:ext cx="5041940" cy="1190625"/>
          </a:xfrm>
          <a:prstGeom prst="rect">
            <a:avLst/>
          </a:prstGeom>
        </p:spPr>
        <p:txBody>
          <a:bodyPr lIns="0" tIns="0" rIns="0" bIns="0" rtlCol="0" anchor="t">
            <a:spAutoFit/>
          </a:bodyPr>
          <a:lstStyle/>
          <a:p>
            <a:pPr algn="ctr">
              <a:lnSpc>
                <a:spcPts val="9480"/>
              </a:lnSpc>
              <a:spcBef>
                <a:spcPct val="0"/>
              </a:spcBef>
            </a:pPr>
            <a:r>
              <a:rPr lang="en-US" sz="7900" b="1">
                <a:solidFill>
                  <a:srgbClr val="FFFFFF"/>
                </a:solidFill>
                <a:latin typeface="Poppins Medium Bold"/>
                <a:ea typeface="Poppins Medium Bold"/>
                <a:cs typeface="Poppins Medium Bold"/>
                <a:sym typeface="Poppins Medium Bold"/>
              </a:rPr>
              <a:t>KẾT LUẬN </a:t>
            </a:r>
          </a:p>
        </p:txBody>
      </p:sp>
      <p:sp>
        <p:nvSpPr>
          <p:cNvPr id="4" name="TextBox 4"/>
          <p:cNvSpPr txBox="1"/>
          <p:nvPr/>
        </p:nvSpPr>
        <p:spPr>
          <a:xfrm>
            <a:off x="1028700" y="3876675"/>
            <a:ext cx="7500080" cy="4933950"/>
          </a:xfrm>
          <a:prstGeom prst="rect">
            <a:avLst/>
          </a:prstGeom>
        </p:spPr>
        <p:txBody>
          <a:bodyPr lIns="0" tIns="0" rIns="0" bIns="0" rtlCol="0" anchor="t">
            <a:spAutoFit/>
          </a:bodyPr>
          <a:lstStyle/>
          <a:p>
            <a:pPr algn="just">
              <a:lnSpc>
                <a:spcPts val="3599"/>
              </a:lnSpc>
              <a:spcBef>
                <a:spcPct val="0"/>
              </a:spcBef>
            </a:pPr>
            <a:r>
              <a:rPr lang="en-US" sz="2999" b="1">
                <a:solidFill>
                  <a:srgbClr val="FFFFFF"/>
                </a:solidFill>
                <a:latin typeface="Arimo Bold"/>
                <a:ea typeface="Arimo Bold"/>
                <a:cs typeface="Arimo Bold"/>
                <a:sym typeface="Arimo Bold"/>
              </a:rPr>
              <a:t>Kết luận</a:t>
            </a:r>
          </a:p>
          <a:p>
            <a:pPr algn="just">
              <a:lnSpc>
                <a:spcPts val="3599"/>
              </a:lnSpc>
              <a:spcBef>
                <a:spcPct val="0"/>
              </a:spcBef>
            </a:pPr>
            <a:r>
              <a:rPr lang="en-US" sz="2999" b="1">
                <a:solidFill>
                  <a:srgbClr val="FFFFFF"/>
                </a:solidFill>
                <a:latin typeface="Arimo Bold"/>
                <a:ea typeface="Arimo Bold"/>
                <a:cs typeface="Arimo Bold"/>
                <a:sym typeface="Arimo Bold"/>
              </a:rPr>
              <a:t>• Hệ thống mạng đáp ứng đầy đủ yêu cầu siêu thị ABC:</a:t>
            </a:r>
          </a:p>
          <a:p>
            <a:pPr algn="just">
              <a:lnSpc>
                <a:spcPts val="3599"/>
              </a:lnSpc>
              <a:spcBef>
                <a:spcPct val="0"/>
              </a:spcBef>
            </a:pPr>
            <a:r>
              <a:rPr lang="en-US" sz="2999" b="1">
                <a:solidFill>
                  <a:srgbClr val="FFFFFF"/>
                </a:solidFill>
                <a:latin typeface="Arimo Bold"/>
                <a:ea typeface="Arimo Bold"/>
                <a:cs typeface="Arimo Bold"/>
                <a:sym typeface="Arimo Bold"/>
              </a:rPr>
              <a:t>• Hiệu suất: VLAN, SSID riêng biệt (Staff, POS, Guest)</a:t>
            </a:r>
          </a:p>
          <a:p>
            <a:pPr algn="just">
              <a:lnSpc>
                <a:spcPts val="3599"/>
              </a:lnSpc>
              <a:spcBef>
                <a:spcPct val="0"/>
              </a:spcBef>
            </a:pPr>
            <a:r>
              <a:rPr lang="en-US" sz="2999" b="1">
                <a:solidFill>
                  <a:srgbClr val="FFFFFF"/>
                </a:solidFill>
                <a:latin typeface="Arimo Bold"/>
                <a:ea typeface="Arimo Bold"/>
                <a:cs typeface="Arimo Bold"/>
                <a:sym typeface="Arimo Bold"/>
              </a:rPr>
              <a:t>• Bảo mật: ACL, 802.1X, WPA2, STP, HSRP, OSPF</a:t>
            </a:r>
          </a:p>
          <a:p>
            <a:pPr algn="just">
              <a:lnSpc>
                <a:spcPts val="3599"/>
              </a:lnSpc>
              <a:spcBef>
                <a:spcPct val="0"/>
              </a:spcBef>
            </a:pPr>
            <a:r>
              <a:rPr lang="en-US" sz="2999" b="1">
                <a:solidFill>
                  <a:srgbClr val="FFFFFF"/>
                </a:solidFill>
                <a:latin typeface="Arimo Bold"/>
                <a:ea typeface="Arimo Bold"/>
                <a:cs typeface="Arimo Bold"/>
                <a:sym typeface="Arimo Bold"/>
              </a:rPr>
              <a:t>• Mở rộng: WiFi Mesh, roaming mượt mà (&lt;50ms)</a:t>
            </a:r>
          </a:p>
          <a:p>
            <a:pPr algn="just">
              <a:lnSpc>
                <a:spcPts val="3599"/>
              </a:lnSpc>
              <a:spcBef>
                <a:spcPct val="0"/>
              </a:spcBef>
            </a:pPr>
            <a:r>
              <a:rPr lang="en-US" sz="2999" b="1">
                <a:solidFill>
                  <a:srgbClr val="FFFFFF"/>
                </a:solidFill>
                <a:latin typeface="Arimo Bold"/>
                <a:ea typeface="Arimo Bold"/>
                <a:cs typeface="Arimo Bold"/>
                <a:sym typeface="Arimo Bold"/>
              </a:rPr>
              <a:t>• Thực nghiệm thành công: Kết nối ổn định, dự phòng hiệu quả</a:t>
            </a:r>
          </a:p>
        </p:txBody>
      </p:sp>
      <p:sp>
        <p:nvSpPr>
          <p:cNvPr id="5" name="TextBox 5"/>
          <p:cNvSpPr txBox="1"/>
          <p:nvPr/>
        </p:nvSpPr>
        <p:spPr>
          <a:xfrm>
            <a:off x="9759220" y="3819525"/>
            <a:ext cx="6997979" cy="5191125"/>
          </a:xfrm>
          <a:prstGeom prst="rect">
            <a:avLst/>
          </a:prstGeom>
        </p:spPr>
        <p:txBody>
          <a:bodyPr lIns="0" tIns="0" rIns="0" bIns="0" rtlCol="0" anchor="t">
            <a:spAutoFit/>
          </a:bodyPr>
          <a:lstStyle/>
          <a:p>
            <a:pPr algn="l">
              <a:lnSpc>
                <a:spcPts val="4199"/>
              </a:lnSpc>
            </a:pPr>
            <a:r>
              <a:rPr lang="en-US" sz="2999" b="1">
                <a:solidFill>
                  <a:srgbClr val="FFFFFF"/>
                </a:solidFill>
                <a:latin typeface="Arimo Bold"/>
                <a:ea typeface="Arimo Bold"/>
                <a:cs typeface="Arimo Bold"/>
                <a:sym typeface="Arimo Bold"/>
              </a:rPr>
              <a:t>Khuyến nghị</a:t>
            </a:r>
          </a:p>
          <a:p>
            <a:pPr algn="l">
              <a:lnSpc>
                <a:spcPts val="4199"/>
              </a:lnSpc>
            </a:pPr>
            <a:r>
              <a:rPr lang="en-US" sz="2999" b="1">
                <a:solidFill>
                  <a:srgbClr val="FFFFFF"/>
                </a:solidFill>
                <a:latin typeface="Arimo Bold"/>
                <a:ea typeface="Arimo Bold"/>
                <a:cs typeface="Arimo Bold"/>
                <a:sym typeface="Arimo Bold"/>
              </a:rPr>
              <a:t>• Nâng cấp WPA3, triển khai MFA cho quản trị viên</a:t>
            </a:r>
          </a:p>
          <a:p>
            <a:pPr algn="l">
              <a:lnSpc>
                <a:spcPts val="4199"/>
              </a:lnSpc>
            </a:pPr>
            <a:r>
              <a:rPr lang="en-US" sz="2999" b="1">
                <a:solidFill>
                  <a:srgbClr val="FFFFFF"/>
                </a:solidFill>
                <a:latin typeface="Arimo Bold"/>
                <a:ea typeface="Arimo Bold"/>
                <a:cs typeface="Arimo Bold"/>
                <a:sym typeface="Arimo Bold"/>
              </a:rPr>
              <a:t>• Giám sát mạng bằng Cisco Prime, cập nhật firmware định kỳ</a:t>
            </a:r>
          </a:p>
          <a:p>
            <a:pPr algn="l">
              <a:lnSpc>
                <a:spcPts val="4199"/>
              </a:lnSpc>
            </a:pPr>
            <a:r>
              <a:rPr lang="en-US" sz="2999" b="1">
                <a:solidFill>
                  <a:srgbClr val="FFFFFF"/>
                </a:solidFill>
                <a:latin typeface="Arimo Bold"/>
                <a:ea typeface="Arimo Bold"/>
                <a:cs typeface="Arimo Bold"/>
                <a:sym typeface="Arimo Bold"/>
              </a:rPr>
              <a:t>• Phân tích nhiễu sóng, thêm AP khi mở rộng chi nhánh</a:t>
            </a:r>
          </a:p>
          <a:p>
            <a:pPr algn="l">
              <a:lnSpc>
                <a:spcPts val="4199"/>
              </a:lnSpc>
            </a:pPr>
            <a:r>
              <a:rPr lang="en-US" sz="2999" b="1">
                <a:solidFill>
                  <a:srgbClr val="FFFFFF"/>
                </a:solidFill>
                <a:latin typeface="Arimo Bold"/>
                <a:ea typeface="Arimo Bold"/>
                <a:cs typeface="Arimo Bold"/>
                <a:sym typeface="Arimo Bold"/>
              </a:rPr>
              <a:t>• Tiếp tục sáng tạo với Mesh WiFi cho các khu vực lớn</a:t>
            </a:r>
          </a:p>
          <a:p>
            <a:pPr algn="l">
              <a:lnSpc>
                <a:spcPts val="3599"/>
              </a:lnSpc>
              <a:spcBef>
                <a:spcPct val="0"/>
              </a:spcBef>
            </a:pPr>
            <a:endParaRPr lang="en-US" sz="2999" b="1">
              <a:solidFill>
                <a:srgbClr val="FFFFFF"/>
              </a:solidFill>
              <a:latin typeface="Arimo Bold"/>
              <a:ea typeface="Arimo Bold"/>
              <a:cs typeface="Arimo Bold"/>
              <a:sym typeface="Arimo Bold"/>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1961379" y="4457700"/>
            <a:ext cx="15297921" cy="1371600"/>
          </a:xfrm>
          <a:prstGeom prst="rect">
            <a:avLst/>
          </a:prstGeom>
        </p:spPr>
        <p:txBody>
          <a:bodyPr lIns="0" tIns="0" rIns="0" bIns="0" rtlCol="0" anchor="t">
            <a:spAutoFit/>
          </a:bodyPr>
          <a:lstStyle/>
          <a:p>
            <a:pPr algn="l">
              <a:lnSpc>
                <a:spcPts val="10800"/>
              </a:lnSpc>
            </a:pPr>
            <a:r>
              <a:rPr lang="en-US" sz="9000" b="1">
                <a:solidFill>
                  <a:srgbClr val="FFFFFF"/>
                </a:solidFill>
                <a:latin typeface="Poppins Medium Bold"/>
                <a:ea typeface="Poppins Medium Bold"/>
                <a:cs typeface="Poppins Medium Bold"/>
                <a:sym typeface="Poppins Medium Bold"/>
              </a:rPr>
              <a:t>Thank you for listenning</a:t>
            </a:r>
          </a:p>
        </p:txBody>
      </p:sp>
      <p:sp>
        <p:nvSpPr>
          <p:cNvPr id="3" name="Freeform 3"/>
          <p:cNvSpPr/>
          <p:nvPr/>
        </p:nvSpPr>
        <p:spPr>
          <a:xfrm>
            <a:off x="8458200" y="-1444019"/>
            <a:ext cx="7160084" cy="5477464"/>
          </a:xfrm>
          <a:custGeom>
            <a:avLst/>
            <a:gdLst/>
            <a:ahLst/>
            <a:cxnLst/>
            <a:rect l="l" t="t" r="r" b="b"/>
            <a:pathLst>
              <a:path w="7160084" h="5477464">
                <a:moveTo>
                  <a:pt x="0" y="0"/>
                </a:moveTo>
                <a:lnTo>
                  <a:pt x="7160084" y="0"/>
                </a:lnTo>
                <a:lnTo>
                  <a:pt x="7160084" y="5477464"/>
                </a:lnTo>
                <a:lnTo>
                  <a:pt x="0" y="5477464"/>
                </a:lnTo>
                <a:lnTo>
                  <a:pt x="0" y="0"/>
                </a:lnTo>
                <a:close/>
              </a:path>
            </a:pathLst>
          </a:custGeom>
          <a:blipFill>
            <a:blip r:embed="rId2"/>
            <a:stretch>
              <a:fillRect/>
            </a:stretch>
          </a:blipFill>
        </p:spPr>
        <p:txBody>
          <a:bodyPr/>
          <a:lstStyle/>
          <a:p>
            <a:endParaRPr lang="en-US"/>
          </a:p>
        </p:txBody>
      </p:sp>
      <p:sp>
        <p:nvSpPr>
          <p:cNvPr id="4" name="Freeform 4"/>
          <p:cNvSpPr/>
          <p:nvPr/>
        </p:nvSpPr>
        <p:spPr>
          <a:xfrm rot="-7698346" flipH="1">
            <a:off x="16854602" y="8262875"/>
            <a:ext cx="2866797" cy="2955461"/>
          </a:xfrm>
          <a:custGeom>
            <a:avLst/>
            <a:gdLst/>
            <a:ahLst/>
            <a:cxnLst/>
            <a:rect l="l" t="t" r="r" b="b"/>
            <a:pathLst>
              <a:path w="2866797" h="2955461">
                <a:moveTo>
                  <a:pt x="2866796" y="0"/>
                </a:moveTo>
                <a:lnTo>
                  <a:pt x="0" y="0"/>
                </a:lnTo>
                <a:lnTo>
                  <a:pt x="0" y="2955460"/>
                </a:lnTo>
                <a:lnTo>
                  <a:pt x="2866796" y="2955460"/>
                </a:lnTo>
                <a:lnTo>
                  <a:pt x="2866796" y="0"/>
                </a:lnTo>
                <a:close/>
              </a:path>
            </a:pathLst>
          </a:custGeom>
          <a:blipFill>
            <a:blip r:embed="rId3"/>
            <a:stretch>
              <a:fillRect/>
            </a:stretch>
          </a:blipFill>
        </p:spPr>
        <p:txBody>
          <a:bodyPr/>
          <a:lstStyle/>
          <a:p>
            <a:endParaRPr lang="en-US"/>
          </a:p>
        </p:txBody>
      </p:sp>
      <p:sp>
        <p:nvSpPr>
          <p:cNvPr id="5" name="Freeform 2">
            <a:extLst>
              <a:ext uri="{FF2B5EF4-FFF2-40B4-BE49-F238E27FC236}">
                <a16:creationId xmlns:a16="http://schemas.microsoft.com/office/drawing/2014/main" id="{23247D07-EA8E-73F0-898F-0CA1CE1BA69C}"/>
              </a:ext>
            </a:extLst>
          </p:cNvPr>
          <p:cNvSpPr/>
          <p:nvPr/>
        </p:nvSpPr>
        <p:spPr>
          <a:xfrm>
            <a:off x="15234733" y="0"/>
            <a:ext cx="3044931" cy="1753992"/>
          </a:xfrm>
          <a:custGeom>
            <a:avLst/>
            <a:gdLst/>
            <a:ahLst/>
            <a:cxnLst/>
            <a:rect l="l" t="t" r="r" b="b"/>
            <a:pathLst>
              <a:path w="3044931" h="1753992">
                <a:moveTo>
                  <a:pt x="0" y="0"/>
                </a:moveTo>
                <a:lnTo>
                  <a:pt x="3044931" y="0"/>
                </a:lnTo>
                <a:lnTo>
                  <a:pt x="3044931" y="1753992"/>
                </a:lnTo>
                <a:lnTo>
                  <a:pt x="0" y="1753992"/>
                </a:lnTo>
                <a:lnTo>
                  <a:pt x="0" y="0"/>
                </a:lnTo>
                <a:close/>
              </a:path>
            </a:pathLst>
          </a:custGeom>
          <a:blipFill>
            <a:blip r:embed="rId4"/>
            <a:stretch>
              <a:fillRect/>
            </a:stretch>
          </a:blipFill>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1206</Words>
  <Application>Microsoft Office PowerPoint</Application>
  <PresentationFormat>Custom</PresentationFormat>
  <Paragraphs>147</Paragraphs>
  <Slides>34</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34</vt:i4>
      </vt:variant>
    </vt:vector>
  </HeadingPairs>
  <TitlesOfParts>
    <vt:vector size="43" baseType="lpstr">
      <vt:lpstr>Poppins Light</vt:lpstr>
      <vt:lpstr>Arial</vt:lpstr>
      <vt:lpstr>Poppins Bold</vt:lpstr>
      <vt:lpstr>Calibri</vt:lpstr>
      <vt:lpstr>Arimo</vt:lpstr>
      <vt:lpstr>Poppins Medium</vt:lpstr>
      <vt:lpstr>Arimo Bold</vt:lpstr>
      <vt:lpstr>Poppins Medium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ATMKD</dc:title>
  <cp:lastModifiedBy>Thạnh Lê Gia</cp:lastModifiedBy>
  <cp:revision>5</cp:revision>
  <dcterms:created xsi:type="dcterms:W3CDTF">2006-08-16T00:00:00Z</dcterms:created>
  <dcterms:modified xsi:type="dcterms:W3CDTF">2025-05-20T09:13:38Z</dcterms:modified>
  <dc:identifier>DAGn6Uy1LVU</dc:identifier>
</cp:coreProperties>
</file>